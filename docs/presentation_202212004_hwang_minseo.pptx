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00" r:id="rId3"/>
    <p:sldId id="2648" r:id="rId4"/>
    <p:sldId id="259" r:id="rId5"/>
    <p:sldId id="260" r:id="rId6"/>
    <p:sldId id="2807" r:id="rId7"/>
    <p:sldId id="263" r:id="rId8"/>
    <p:sldId id="2808" r:id="rId9"/>
    <p:sldId id="2809" r:id="rId10"/>
    <p:sldId id="2811" r:id="rId11"/>
    <p:sldId id="2812" r:id="rId12"/>
    <p:sldId id="2814" r:id="rId13"/>
    <p:sldId id="2815" r:id="rId14"/>
    <p:sldId id="2735" r:id="rId15"/>
    <p:sldId id="266" r:id="rId16"/>
    <p:sldId id="2816" r:id="rId17"/>
    <p:sldId id="2817" r:id="rId18"/>
    <p:sldId id="2818" r:id="rId19"/>
    <p:sldId id="2819" r:id="rId20"/>
    <p:sldId id="2820" r:id="rId21"/>
    <p:sldId id="2821" r:id="rId22"/>
    <p:sldId id="2822" r:id="rId23"/>
    <p:sldId id="2823" r:id="rId24"/>
    <p:sldId id="2824" r:id="rId25"/>
    <p:sldId id="2825" r:id="rId26"/>
    <p:sldId id="2826" r:id="rId27"/>
    <p:sldId id="2804" r:id="rId28"/>
    <p:sldId id="2827" r:id="rId29"/>
    <p:sldId id="2806" r:id="rId30"/>
  </p:sldIdLst>
  <p:sldSz cx="9906000" cy="6858000" type="A4"/>
  <p:notesSz cx="6858000" cy="9144000"/>
  <p:defaultTextStyle>
    <a:defPPr>
      <a:defRPr lang="en-US"/>
    </a:defPPr>
    <a:lvl1pPr marL="0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1pPr>
    <a:lvl2pPr marL="268194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2pPr>
    <a:lvl3pPr marL="536387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3pPr>
    <a:lvl4pPr marL="804581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4pPr>
    <a:lvl5pPr marL="1072774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5pPr>
    <a:lvl6pPr marL="1340968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6pPr>
    <a:lvl7pPr marL="1609161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7pPr>
    <a:lvl8pPr marL="1877355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8pPr>
    <a:lvl9pPr marL="2145548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5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FD9"/>
    <a:srgbClr val="123F4B"/>
    <a:srgbClr val="FFFFCC"/>
    <a:srgbClr val="FD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5" autoAdjust="0"/>
    <p:restoredTop sz="93992" autoAdjust="0"/>
  </p:normalViewPr>
  <p:slideViewPr>
    <p:cSldViewPr>
      <p:cViewPr varScale="1">
        <p:scale>
          <a:sx n="102" d="100"/>
          <a:sy n="102" d="100"/>
        </p:scale>
        <p:origin x="1290" y="108"/>
      </p:cViewPr>
      <p:guideLst>
        <p:guide orient="horz" pos="1440"/>
        <p:guide pos="15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38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598C8-588A-4AB5-8F63-C9E8EF230179}" type="datetimeFigureOut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B20B9-9CF3-436D-BD9C-06413D0D7C4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4206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1pPr>
    <a:lvl2pPr marL="268194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2pPr>
    <a:lvl3pPr marL="536387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3pPr>
    <a:lvl4pPr marL="804581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4pPr>
    <a:lvl5pPr marL="1072774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5pPr>
    <a:lvl6pPr marL="1340968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6pPr>
    <a:lvl7pPr marL="1609161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7pPr>
    <a:lvl8pPr marL="1877355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8pPr>
    <a:lvl9pPr marL="2145548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20B9-9CF3-436D-BD9C-06413D0D7C42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393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20B9-9CF3-436D-BD9C-06413D0D7C42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7316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20B9-9CF3-436D-BD9C-06413D0D7C42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2647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20B9-9CF3-436D-BD9C-06413D0D7C42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6178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20B9-9CF3-436D-BD9C-06413D0D7C42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2195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20B9-9CF3-436D-BD9C-06413D0D7C42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4914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20B9-9CF3-436D-BD9C-06413D0D7C42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4066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475" y="1420283"/>
            <a:ext cx="421005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590800"/>
            <a:ext cx="34671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7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95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42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90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38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85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33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81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8CC0-936F-48D2-9A1C-CE70CAC2C828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0627-ACC5-4E63-A414-10F36468036F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253" y="2937934"/>
            <a:ext cx="4210050" cy="908050"/>
          </a:xfrm>
        </p:spPr>
        <p:txBody>
          <a:bodyPr anchor="t"/>
          <a:lstStyle>
            <a:lvl1pPr algn="l">
              <a:defRPr sz="21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253" y="1937809"/>
            <a:ext cx="4210050" cy="1000125"/>
          </a:xfrm>
        </p:spPr>
        <p:txBody>
          <a:bodyPr anchor="b"/>
          <a:lstStyle>
            <a:lvl1pPr marL="0" indent="0">
              <a:buNone/>
              <a:defRPr sz="1083">
                <a:solidFill>
                  <a:schemeClr val="tx1">
                    <a:tint val="75000"/>
                  </a:schemeClr>
                </a:solidFill>
              </a:defRPr>
            </a:lvl1pPr>
            <a:lvl2pPr marL="247665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2pPr>
            <a:lvl3pPr marL="495330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3pPr>
            <a:lvl4pPr marL="742996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4pPr>
            <a:lvl5pPr marL="990661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5pPr>
            <a:lvl6pPr marL="1238326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6pPr>
            <a:lvl7pPr marL="1485991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7pPr>
            <a:lvl8pPr marL="1733657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8pPr>
            <a:lvl9pPr marL="1981322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AECC-80B4-4A3D-A078-FF87B26E6578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0" y="1066800"/>
            <a:ext cx="2187575" cy="3017309"/>
          </a:xfrm>
        </p:spPr>
        <p:txBody>
          <a:bodyPr/>
          <a:lstStyle>
            <a:lvl1pPr>
              <a:defRPr sz="1517"/>
            </a:lvl1pPr>
            <a:lvl2pPr>
              <a:defRPr sz="1300"/>
            </a:lvl2pPr>
            <a:lvl3pPr>
              <a:defRPr sz="1083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7775" y="1066800"/>
            <a:ext cx="2187575" cy="3017309"/>
          </a:xfrm>
        </p:spPr>
        <p:txBody>
          <a:bodyPr/>
          <a:lstStyle>
            <a:lvl1pPr>
              <a:defRPr sz="1517"/>
            </a:lvl1pPr>
            <a:lvl2pPr>
              <a:defRPr sz="1300"/>
            </a:lvl2pPr>
            <a:lvl3pPr>
              <a:defRPr sz="1083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F4D6-4EAC-4DC3-AB45-8E3D1B3CA364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1023409"/>
            <a:ext cx="2188435" cy="426508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7665" indent="0">
              <a:buNone/>
              <a:defRPr sz="1083" b="1"/>
            </a:lvl2pPr>
            <a:lvl3pPr marL="495330" indent="0">
              <a:buNone/>
              <a:defRPr sz="975" b="1"/>
            </a:lvl3pPr>
            <a:lvl4pPr marL="742996" indent="0">
              <a:buNone/>
              <a:defRPr sz="867" b="1"/>
            </a:lvl4pPr>
            <a:lvl5pPr marL="990661" indent="0">
              <a:buNone/>
              <a:defRPr sz="867" b="1"/>
            </a:lvl5pPr>
            <a:lvl6pPr marL="1238326" indent="0">
              <a:buNone/>
              <a:defRPr sz="867" b="1"/>
            </a:lvl6pPr>
            <a:lvl7pPr marL="1485991" indent="0">
              <a:buNone/>
              <a:defRPr sz="867" b="1"/>
            </a:lvl7pPr>
            <a:lvl8pPr marL="1733657" indent="0">
              <a:buNone/>
              <a:defRPr sz="867" b="1"/>
            </a:lvl8pPr>
            <a:lvl9pPr marL="1981322" indent="0">
              <a:buNone/>
              <a:defRPr sz="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650" y="1449917"/>
            <a:ext cx="2188435" cy="2634192"/>
          </a:xfrm>
        </p:spPr>
        <p:txBody>
          <a:bodyPr/>
          <a:lstStyle>
            <a:lvl1pPr>
              <a:defRPr sz="1300"/>
            </a:lvl1pPr>
            <a:lvl2pPr>
              <a:defRPr sz="1083"/>
            </a:lvl2pPr>
            <a:lvl3pPr>
              <a:defRPr sz="975"/>
            </a:lvl3pPr>
            <a:lvl4pPr>
              <a:defRPr sz="867"/>
            </a:lvl4pPr>
            <a:lvl5pPr>
              <a:defRPr sz="867"/>
            </a:lvl5pPr>
            <a:lvl6pPr>
              <a:defRPr sz="867"/>
            </a:lvl6pPr>
            <a:lvl7pPr>
              <a:defRPr sz="867"/>
            </a:lvl7pPr>
            <a:lvl8pPr>
              <a:defRPr sz="867"/>
            </a:lvl8pPr>
            <a:lvl9pPr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16055" y="1023409"/>
            <a:ext cx="2189295" cy="426508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7665" indent="0">
              <a:buNone/>
              <a:defRPr sz="1083" b="1"/>
            </a:lvl2pPr>
            <a:lvl3pPr marL="495330" indent="0">
              <a:buNone/>
              <a:defRPr sz="975" b="1"/>
            </a:lvl3pPr>
            <a:lvl4pPr marL="742996" indent="0">
              <a:buNone/>
              <a:defRPr sz="867" b="1"/>
            </a:lvl4pPr>
            <a:lvl5pPr marL="990661" indent="0">
              <a:buNone/>
              <a:defRPr sz="867" b="1"/>
            </a:lvl5pPr>
            <a:lvl6pPr marL="1238326" indent="0">
              <a:buNone/>
              <a:defRPr sz="867" b="1"/>
            </a:lvl6pPr>
            <a:lvl7pPr marL="1485991" indent="0">
              <a:buNone/>
              <a:defRPr sz="867" b="1"/>
            </a:lvl7pPr>
            <a:lvl8pPr marL="1733657" indent="0">
              <a:buNone/>
              <a:defRPr sz="867" b="1"/>
            </a:lvl8pPr>
            <a:lvl9pPr marL="1981322" indent="0">
              <a:buNone/>
              <a:defRPr sz="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16055" y="1449917"/>
            <a:ext cx="2189295" cy="2634192"/>
          </a:xfrm>
        </p:spPr>
        <p:txBody>
          <a:bodyPr/>
          <a:lstStyle>
            <a:lvl1pPr>
              <a:defRPr sz="1300"/>
            </a:lvl1pPr>
            <a:lvl2pPr>
              <a:defRPr sz="1083"/>
            </a:lvl2pPr>
            <a:lvl3pPr>
              <a:defRPr sz="975"/>
            </a:lvl3pPr>
            <a:lvl4pPr>
              <a:defRPr sz="867"/>
            </a:lvl4pPr>
            <a:lvl5pPr>
              <a:defRPr sz="867"/>
            </a:lvl5pPr>
            <a:lvl6pPr>
              <a:defRPr sz="867"/>
            </a:lvl6pPr>
            <a:lvl7pPr>
              <a:defRPr sz="867"/>
            </a:lvl7pPr>
            <a:lvl8pPr>
              <a:defRPr sz="867"/>
            </a:lvl8pPr>
            <a:lvl9pPr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9F2D0-F4BB-4A5E-AB25-5B3B062C7360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EB9B9-BB40-4974-B299-51B79F696C5A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81000" y="6370108"/>
            <a:ext cx="1155700" cy="243417"/>
          </a:xfrm>
        </p:spPr>
        <p:txBody>
          <a:bodyPr/>
          <a:lstStyle/>
          <a:p>
            <a:fld id="{41FEC1EF-3247-44B1-BCD8-9848967A7560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248400"/>
            <a:ext cx="1155700" cy="243417"/>
          </a:xfrm>
        </p:spPr>
        <p:txBody>
          <a:bodyPr/>
          <a:lstStyle>
            <a:lvl1pPr>
              <a:defRPr sz="1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182033"/>
            <a:ext cx="1629503" cy="774700"/>
          </a:xfrm>
        </p:spPr>
        <p:txBody>
          <a:bodyPr anchor="b"/>
          <a:lstStyle>
            <a:lvl1pPr algn="l">
              <a:defRPr sz="10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485" y="182034"/>
            <a:ext cx="2768865" cy="3902075"/>
          </a:xfrm>
        </p:spPr>
        <p:txBody>
          <a:bodyPr/>
          <a:lstStyle>
            <a:lvl1pPr>
              <a:defRPr sz="1733"/>
            </a:lvl1pPr>
            <a:lvl2pPr>
              <a:defRPr sz="1517"/>
            </a:lvl2pPr>
            <a:lvl3pPr>
              <a:defRPr sz="1300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650" y="956734"/>
            <a:ext cx="1629503" cy="3127375"/>
          </a:xfrm>
        </p:spPr>
        <p:txBody>
          <a:bodyPr/>
          <a:lstStyle>
            <a:lvl1pPr marL="0" indent="0">
              <a:buNone/>
              <a:defRPr sz="758"/>
            </a:lvl1pPr>
            <a:lvl2pPr marL="247665" indent="0">
              <a:buNone/>
              <a:defRPr sz="650"/>
            </a:lvl2pPr>
            <a:lvl3pPr marL="495330" indent="0">
              <a:buNone/>
              <a:defRPr sz="542"/>
            </a:lvl3pPr>
            <a:lvl4pPr marL="742996" indent="0">
              <a:buNone/>
              <a:defRPr sz="488"/>
            </a:lvl4pPr>
            <a:lvl5pPr marL="990661" indent="0">
              <a:buNone/>
              <a:defRPr sz="488"/>
            </a:lvl5pPr>
            <a:lvl6pPr marL="1238326" indent="0">
              <a:buNone/>
              <a:defRPr sz="488"/>
            </a:lvl6pPr>
            <a:lvl7pPr marL="1485991" indent="0">
              <a:buNone/>
              <a:defRPr sz="488"/>
            </a:lvl7pPr>
            <a:lvl8pPr marL="1733657" indent="0">
              <a:buNone/>
              <a:defRPr sz="488"/>
            </a:lvl8pPr>
            <a:lvl9pPr marL="1981322" indent="0">
              <a:buNone/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8BFE-A914-4004-A2EB-45BE6A8D13A7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823" y="3200400"/>
            <a:ext cx="2971800" cy="377825"/>
          </a:xfrm>
        </p:spPr>
        <p:txBody>
          <a:bodyPr anchor="b"/>
          <a:lstStyle>
            <a:lvl1pPr algn="l">
              <a:defRPr sz="10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70823" y="408517"/>
            <a:ext cx="2971800" cy="2743200"/>
          </a:xfrm>
        </p:spPr>
        <p:txBody>
          <a:bodyPr/>
          <a:lstStyle>
            <a:lvl1pPr marL="0" indent="0">
              <a:buNone/>
              <a:defRPr sz="1733"/>
            </a:lvl1pPr>
            <a:lvl2pPr marL="247665" indent="0">
              <a:buNone/>
              <a:defRPr sz="1517"/>
            </a:lvl2pPr>
            <a:lvl3pPr marL="495330" indent="0">
              <a:buNone/>
              <a:defRPr sz="1300"/>
            </a:lvl3pPr>
            <a:lvl4pPr marL="742996" indent="0">
              <a:buNone/>
              <a:defRPr sz="1083"/>
            </a:lvl4pPr>
            <a:lvl5pPr marL="990661" indent="0">
              <a:buNone/>
              <a:defRPr sz="1083"/>
            </a:lvl5pPr>
            <a:lvl6pPr marL="1238326" indent="0">
              <a:buNone/>
              <a:defRPr sz="1083"/>
            </a:lvl6pPr>
            <a:lvl7pPr marL="1485991" indent="0">
              <a:buNone/>
              <a:defRPr sz="1083"/>
            </a:lvl7pPr>
            <a:lvl8pPr marL="1733657" indent="0">
              <a:buNone/>
              <a:defRPr sz="1083"/>
            </a:lvl8pPr>
            <a:lvl9pPr marL="1981322" indent="0">
              <a:buNone/>
              <a:defRPr sz="1083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823" y="3578225"/>
            <a:ext cx="2971800" cy="536575"/>
          </a:xfrm>
        </p:spPr>
        <p:txBody>
          <a:bodyPr/>
          <a:lstStyle>
            <a:lvl1pPr marL="0" indent="0">
              <a:buNone/>
              <a:defRPr sz="758"/>
            </a:lvl1pPr>
            <a:lvl2pPr marL="247665" indent="0">
              <a:buNone/>
              <a:defRPr sz="650"/>
            </a:lvl2pPr>
            <a:lvl3pPr marL="495330" indent="0">
              <a:buNone/>
              <a:defRPr sz="542"/>
            </a:lvl3pPr>
            <a:lvl4pPr marL="742996" indent="0">
              <a:buNone/>
              <a:defRPr sz="488"/>
            </a:lvl4pPr>
            <a:lvl5pPr marL="990661" indent="0">
              <a:buNone/>
              <a:defRPr sz="488"/>
            </a:lvl5pPr>
            <a:lvl6pPr marL="1238326" indent="0">
              <a:buNone/>
              <a:defRPr sz="488"/>
            </a:lvl6pPr>
            <a:lvl7pPr marL="1485991" indent="0">
              <a:buNone/>
              <a:defRPr sz="488"/>
            </a:lvl7pPr>
            <a:lvl8pPr marL="1733657" indent="0">
              <a:buNone/>
              <a:defRPr sz="488"/>
            </a:lvl8pPr>
            <a:lvl9pPr marL="1981322" indent="0">
              <a:buNone/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F7A6-8157-4253-957F-85C0CC66868B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67160-6F5D-42FC-BE25-47346D44BCDF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0925" y="183092"/>
            <a:ext cx="1114425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650" y="183092"/>
            <a:ext cx="3260725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39E1-D550-40A4-B605-FE71D060C163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AE169226-6326-4B42-BA01-A07503F9BF41}"/>
              </a:ext>
            </a:extLst>
          </p:cNvPr>
          <p:cNvSpPr/>
          <p:nvPr userDrawn="1"/>
        </p:nvSpPr>
        <p:spPr>
          <a:xfrm>
            <a:off x="-8075" y="-19878"/>
            <a:ext cx="1139636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74283" tIns="74283" rIns="74283" bIns="74283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sz="858" dirty="0"/>
          </a:p>
        </p:txBody>
      </p:sp>
      <p:sp>
        <p:nvSpPr>
          <p:cNvPr id="12" name="Google Shape;10;p2">
            <a:extLst>
              <a:ext uri="{FF2B5EF4-FFF2-40B4-BE49-F238E27FC236}">
                <a16:creationId xmlns:a16="http://schemas.microsoft.com/office/drawing/2014/main" id="{F2128D78-98D0-1946-ABC0-DD3E32D4D519}"/>
              </a:ext>
            </a:extLst>
          </p:cNvPr>
          <p:cNvSpPr/>
          <p:nvPr userDrawn="1"/>
        </p:nvSpPr>
        <p:spPr>
          <a:xfrm>
            <a:off x="8576228" y="5655365"/>
            <a:ext cx="1339358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74283" tIns="74283" rIns="74283" bIns="7428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8" dirty="0"/>
          </a:p>
        </p:txBody>
      </p:sp>
      <p:sp>
        <p:nvSpPr>
          <p:cNvPr id="25" name="제목 24">
            <a:extLst>
              <a:ext uri="{FF2B5EF4-FFF2-40B4-BE49-F238E27FC236}">
                <a16:creationId xmlns:a16="http://schemas.microsoft.com/office/drawing/2014/main" id="{18E4D7E8-082F-3947-ACDC-CCB90F65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00" y="107958"/>
            <a:ext cx="9165855" cy="67134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438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ore-KR" dirty="0"/>
          </a:p>
        </p:txBody>
      </p:sp>
      <p:sp>
        <p:nvSpPr>
          <p:cNvPr id="33" name="슬라이드 번호 개체 틀 20">
            <a:extLst>
              <a:ext uri="{FF2B5EF4-FFF2-40B4-BE49-F238E27FC236}">
                <a16:creationId xmlns:a16="http://schemas.microsoft.com/office/drawing/2014/main" id="{5D8DE216-E2D2-0946-B519-359B6A0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9532" y="6472309"/>
            <a:ext cx="325713" cy="365125"/>
          </a:xfrm>
          <a:prstGeom prst="rect">
            <a:avLst/>
          </a:prstGeom>
        </p:spPr>
        <p:txBody>
          <a:bodyPr/>
          <a:lstStyle>
            <a:lvl1pPr>
              <a:defRPr sz="1138"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7706D100-A296-AA47-8D59-127D7B2E0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700" y="815008"/>
            <a:ext cx="9165855" cy="5494352"/>
          </a:xfrm>
          <a:prstGeom prst="rect">
            <a:avLst/>
          </a:prstGeom>
        </p:spPr>
        <p:txBody>
          <a:bodyPr/>
          <a:lstStyle>
            <a:lvl1pPr marL="185738" indent="-185738">
              <a:lnSpc>
                <a:spcPct val="120000"/>
              </a:lnSpc>
              <a:buClr>
                <a:srgbClr val="4BB0A0"/>
              </a:buClr>
              <a:buFont typeface="시스템 서체"/>
              <a:buChar char="◦"/>
              <a:defRPr sz="1463"/>
            </a:lvl1pPr>
            <a:lvl2pPr marL="557213" indent="-185738">
              <a:lnSpc>
                <a:spcPct val="120000"/>
              </a:lnSpc>
              <a:buFont typeface="시스템 서체"/>
              <a:buChar char="⁃"/>
              <a:defRPr sz="1300"/>
            </a:lvl2pPr>
            <a:lvl3pPr>
              <a:lnSpc>
                <a:spcPct val="120000"/>
              </a:lnSpc>
              <a:defRPr sz="1138"/>
            </a:lvl3pPr>
            <a:lvl4pPr>
              <a:lnSpc>
                <a:spcPct val="120000"/>
              </a:lnSpc>
              <a:defRPr sz="1138"/>
            </a:lvl4pPr>
            <a:lvl5pPr>
              <a:lnSpc>
                <a:spcPct val="120000"/>
              </a:lnSpc>
              <a:defRPr sz="1138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ko-Kore-KR" dirty="0"/>
          </a:p>
        </p:txBody>
      </p:sp>
      <p:sp>
        <p:nvSpPr>
          <p:cNvPr id="9" name="바닥글 개체 틀 36">
            <a:extLst>
              <a:ext uri="{FF2B5EF4-FFF2-40B4-BE49-F238E27FC236}">
                <a16:creationId xmlns:a16="http://schemas.microsoft.com/office/drawing/2014/main" id="{0FCC723C-E12E-4134-80CF-8ADAED2921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91750" y="6574971"/>
            <a:ext cx="3343275" cy="216052"/>
          </a:xfrm>
          <a:prstGeom prst="rect">
            <a:avLst/>
          </a:prstGeom>
        </p:spPr>
        <p:txBody>
          <a:bodyPr/>
          <a:lstStyle>
            <a:lvl1pPr marL="0" marR="0" indent="0" algn="l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3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데이터 분석 </a:t>
            </a:r>
            <a:r>
              <a:rPr lang="en-US" altLang="ko-KR" b="1" dirty="0"/>
              <a:t>with </a:t>
            </a:r>
            <a:r>
              <a:rPr lang="ko-KR" altLang="en-US" b="1" dirty="0"/>
              <a:t>파이썬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528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273A78-C4E7-5430-6473-0B640604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2025-12-01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37CB25-C28B-EA21-92B7-C5F5FAB7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1023E63-5E2C-1003-1BB8-0C1D911BCFB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0"/>
            <a:ext cx="9906000" cy="9807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2400" dirty="0">
                <a:solidFill>
                  <a:srgbClr val="1F51A2"/>
                </a:solidFill>
              </a:rPr>
              <a:t> 실전분석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3F4CEAD-69A6-4902-1B3B-503B7AABE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308" y="236648"/>
            <a:ext cx="8202909" cy="507433"/>
          </a:xfrm>
        </p:spPr>
        <p:txBody>
          <a:bodyPr/>
          <a:lstStyle>
            <a:lvl1pPr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AB459A-3A9A-F030-7B01-168A3513B73F}"/>
              </a:ext>
            </a:extLst>
          </p:cNvPr>
          <p:cNvSpPr txBox="1"/>
          <p:nvPr userDrawn="1"/>
        </p:nvSpPr>
        <p:spPr>
          <a:xfrm>
            <a:off x="9266506" y="6525344"/>
            <a:ext cx="702078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57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5339A-44A4-A932-E492-3CDDC492B830}"/>
              </a:ext>
            </a:extLst>
          </p:cNvPr>
          <p:cNvSpPr txBox="1"/>
          <p:nvPr userDrawn="1"/>
        </p:nvSpPr>
        <p:spPr>
          <a:xfrm>
            <a:off x="8931442" y="6525344"/>
            <a:ext cx="702078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fld id="{B921D178-B3E2-41DF-B6F9-C73B8CC656FA}" type="slidenum">
              <a:rPr lang="ko-KR" altLang="en-US" sz="14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251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_기본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8622"/>
            <a:ext cx="9906000" cy="690471"/>
          </a:xfrm>
          <a:prstGeom prst="rect">
            <a:avLst/>
          </a:prstGeom>
          <a:solidFill>
            <a:srgbClr val="F6F983"/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9111458" y="6549347"/>
            <a:ext cx="794544" cy="33591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969197" y="6549347"/>
            <a:ext cx="913209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/66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8792" y="128635"/>
            <a:ext cx="8433858" cy="474663"/>
          </a:xfrm>
        </p:spPr>
        <p:txBody>
          <a:bodyPr>
            <a:noAutofit/>
          </a:bodyPr>
          <a:lstStyle>
            <a:lvl1pPr algn="l">
              <a:defRPr sz="2200" b="1" spc="-100" baseline="0">
                <a:solidFill>
                  <a:schemeClr val="tx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8793" y="773707"/>
            <a:ext cx="9710994" cy="5669959"/>
          </a:xfrm>
        </p:spPr>
        <p:txBody>
          <a:bodyPr>
            <a:normAutofit/>
          </a:bodyPr>
          <a:lstStyle>
            <a:lvl1pPr marL="355600" indent="-261938">
              <a:lnSpc>
                <a:spcPct val="120000"/>
              </a:lnSpc>
              <a:buClr>
                <a:srgbClr val="FFE45B"/>
              </a:buClr>
              <a:buSzPct val="130000"/>
              <a:buFont typeface="Wingdings" panose="05000000000000000000" pitchFamily="2" charset="2"/>
              <a:buChar char="§"/>
              <a:defRPr sz="2000" b="1"/>
            </a:lvl1pPr>
            <a:lvl2pPr marL="534988" indent="-177800">
              <a:lnSpc>
                <a:spcPct val="120000"/>
              </a:lnSpc>
              <a:buClr>
                <a:srgbClr val="FFE45B"/>
              </a:buClr>
              <a:buFont typeface="Wingdings" panose="05000000000000000000" pitchFamily="2" charset="2"/>
              <a:buChar char="§"/>
              <a:defRPr sz="1600"/>
            </a:lvl2pPr>
            <a:lvl3pPr marL="720725" indent="-185738">
              <a:lnSpc>
                <a:spcPct val="120000"/>
              </a:lnSpc>
              <a:buClr>
                <a:srgbClr val="FFE45B"/>
              </a:buClr>
              <a:buFont typeface="Wingdings" panose="05000000000000000000" pitchFamily="2" charset="2"/>
              <a:buChar char="§"/>
              <a:defRPr sz="1400"/>
            </a:lvl3pPr>
            <a:lvl4pPr marL="898525" indent="-177800">
              <a:lnSpc>
                <a:spcPct val="120000"/>
              </a:lnSpc>
              <a:buClr>
                <a:srgbClr val="FFE45B"/>
              </a:buClr>
              <a:buFont typeface="Wingdings" panose="05000000000000000000" pitchFamily="2" charset="2"/>
              <a:buChar char="§"/>
              <a:defRPr sz="1200"/>
            </a:lvl4pPr>
            <a:lvl5pPr marL="1077913" indent="-179388">
              <a:lnSpc>
                <a:spcPct val="120000"/>
              </a:lnSpc>
              <a:buClr>
                <a:srgbClr val="FFE45B"/>
              </a:buClr>
              <a:buFont typeface="Wingdings" panose="05000000000000000000" pitchFamily="2" charset="2"/>
              <a:buChar char="§"/>
              <a:defRPr sz="1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53439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4515" y="184745"/>
            <a:ext cx="7410823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01806" y="908051"/>
            <a:ext cx="2534731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836538" y="908051"/>
            <a:ext cx="2534731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7371269" y="908051"/>
            <a:ext cx="253473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534731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 hasCustomPrompt="1"/>
          </p:nvPr>
        </p:nvSpPr>
        <p:spPr>
          <a:xfrm>
            <a:off x="584515" y="1196752"/>
            <a:ext cx="8892988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1F51A2"/>
              </a:buClr>
              <a:buFont typeface="Wingdings" pitchFamily="2" charset="2"/>
              <a:buChar char="n"/>
              <a:defRPr sz="24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20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809625" indent="-180975">
              <a:spcAft>
                <a:spcPts val="300"/>
              </a:spcAft>
              <a:buSzPct val="96000"/>
              <a:defRPr sz="1600"/>
            </a:lvl4pPr>
            <a:lvl5pPr marL="990600" indent="-180975"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266506" y="6525344"/>
            <a:ext cx="702078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32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931442" y="6525344"/>
            <a:ext cx="702078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fld id="{B921D178-B3E2-41DF-B6F9-C73B8CC656FA}" type="slidenum">
              <a:rPr lang="ko-KR" altLang="en-US" sz="14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707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3FB4-17F9-41DF-B344-DD845FD8C34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557214" cy="893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717604" y="1345581"/>
            <a:ext cx="8994064" cy="5228062"/>
          </a:xfrm>
          <a:prstGeom prst="rect">
            <a:avLst/>
          </a:prstGeom>
        </p:spPr>
        <p:txBody>
          <a:bodyPr>
            <a:normAutofit/>
          </a:bodyPr>
          <a:lstStyle>
            <a:lvl1pPr marL="200918" indent="-200918">
              <a:buClr>
                <a:srgbClr val="083E88"/>
              </a:buClr>
              <a:buFont typeface="Wingdings" panose="05000000000000000000" pitchFamily="2" charset="2"/>
              <a:buChar char="§"/>
              <a:defRPr sz="2400"/>
            </a:lvl1pPr>
            <a:lvl2pPr marL="451842" indent="-194667">
              <a:buClr>
                <a:srgbClr val="083E88"/>
              </a:buClr>
              <a:buFont typeface="Calibri" panose="020F0502020204030204" pitchFamily="34" charset="0"/>
              <a:buChar char="‒"/>
              <a:tabLst>
                <a:tab pos="405408" algn="l"/>
              </a:tabLst>
              <a:defRPr sz="2000">
                <a:latin typeface="+mn-lt"/>
              </a:defRPr>
            </a:lvl2pPr>
            <a:lvl3pPr marL="642938" indent="-128588">
              <a:buClr>
                <a:srgbClr val="083E88"/>
              </a:buClr>
              <a:buFont typeface="Arial" panose="020B0604020202020204" pitchFamily="34" charset="0"/>
              <a:buChar char="•"/>
              <a:defRPr sz="1800"/>
            </a:lvl3pPr>
            <a:lvl4pPr marL="900113" indent="-128588">
              <a:buClr>
                <a:srgbClr val="083E88"/>
              </a:buClr>
              <a:buFont typeface="Calibri" panose="020F0502020204030204" pitchFamily="34" charset="0"/>
              <a:buChar char="‒"/>
              <a:defRPr sz="1600"/>
            </a:lvl4pPr>
            <a:lvl5pPr marL="1157288" indent="-128588">
              <a:buClr>
                <a:srgbClr val="083E88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>
              <a:buClr>
                <a:schemeClr val="accent5">
                  <a:lumMod val="50000"/>
                </a:schemeClr>
              </a:buClr>
            </a:pPr>
            <a:r>
              <a:rPr lang="ko-KR" altLang="en-US"/>
              <a:t>마스터 텍스트 스타일을 편집합니다</a:t>
            </a:r>
          </a:p>
          <a:p>
            <a:pPr lvl="1">
              <a:buClr>
                <a:schemeClr val="accent5">
                  <a:lumMod val="50000"/>
                </a:schemeClr>
              </a:buClr>
            </a:pPr>
            <a:r>
              <a:rPr lang="ko-KR" altLang="en-US"/>
              <a:t>둘째 수준</a:t>
            </a:r>
          </a:p>
          <a:p>
            <a:pPr lvl="2">
              <a:buClr>
                <a:schemeClr val="accent5">
                  <a:lumMod val="50000"/>
                </a:schemeClr>
              </a:buClr>
            </a:pPr>
            <a:r>
              <a:rPr lang="ko-KR" altLang="en-US"/>
              <a:t>셋째 수준</a:t>
            </a:r>
          </a:p>
          <a:p>
            <a:pPr lvl="3">
              <a:buClr>
                <a:schemeClr val="accent5">
                  <a:lumMod val="50000"/>
                </a:schemeClr>
              </a:buClr>
            </a:pPr>
            <a:r>
              <a:rPr lang="ko-KR" altLang="en-US"/>
              <a:t>넷째 수준</a:t>
            </a:r>
          </a:p>
          <a:p>
            <a:pPr lvl="4">
              <a:buClr>
                <a:schemeClr val="accent5">
                  <a:lumMod val="50000"/>
                </a:schemeClr>
              </a:buClr>
            </a:pPr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17604" y="95251"/>
            <a:ext cx="8388697" cy="75535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rgbClr val="083E88"/>
                </a:solidFill>
                <a:effectLst/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21487" y="6506393"/>
            <a:ext cx="561265" cy="35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41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650" y="183092"/>
            <a:ext cx="44577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1066800"/>
            <a:ext cx="44577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650" y="4237567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F68E5-F9EE-420C-9D36-2AF32D12ABE6}" type="datetime1">
              <a:rPr lang="en-US" altLang="ko-KR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2275" y="4237567"/>
            <a:ext cx="15684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9650" y="4237567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5" r:id="rId13"/>
    <p:sldLayoutId id="2147483666" r:id="rId14"/>
    <p:sldLayoutId id="2147483667" r:id="rId15"/>
    <p:sldLayoutId id="2147483668" r:id="rId16"/>
  </p:sldLayoutIdLst>
  <p:hf hdr="0" ftr="0" dt="0"/>
  <p:txStyles>
    <p:titleStyle>
      <a:lvl1pPr algn="ctr" defTabSz="495330" rtl="0" eaLnBrk="1" latinLnBrk="0" hangingPunct="1">
        <a:spcBef>
          <a:spcPct val="0"/>
        </a:spcBef>
        <a:buNone/>
        <a:defRPr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49" indent="-185749" algn="l" defTabSz="495330" rtl="0" eaLnBrk="1" latinLnBrk="0" hangingPunct="1">
        <a:spcBef>
          <a:spcPct val="20000"/>
        </a:spcBef>
        <a:buFont typeface="Arial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56" indent="-154791" algn="l" defTabSz="495330" rtl="0" eaLnBrk="1" latinLnBrk="0" hangingPunct="1">
        <a:spcBef>
          <a:spcPct val="20000"/>
        </a:spcBef>
        <a:buFont typeface="Arial" pitchFamily="34" charset="0"/>
        <a:buChar char="–"/>
        <a:defRPr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63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28" indent="-123833" algn="l" defTabSz="495330" rtl="0" eaLnBrk="1" latinLnBrk="0" hangingPunct="1">
        <a:spcBef>
          <a:spcPct val="20000"/>
        </a:spcBef>
        <a:buFont typeface="Arial" pitchFamily="34" charset="0"/>
        <a:buChar char="–"/>
        <a:defRPr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494" indent="-123833" algn="l" defTabSz="495330" rtl="0" eaLnBrk="1" latinLnBrk="0" hangingPunct="1">
        <a:spcBef>
          <a:spcPct val="20000"/>
        </a:spcBef>
        <a:buFont typeface="Arial" pitchFamily="34" charset="0"/>
        <a:buChar char="»"/>
        <a:defRPr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159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24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489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155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65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30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2996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661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26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5991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657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22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ine21.com/movie/point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codingspooning.tistory.com/category/Programming/Python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23E678-365D-1207-F197-9051E3F5C390}"/>
              </a:ext>
            </a:extLst>
          </p:cNvPr>
          <p:cNvSpPr/>
          <p:nvPr/>
        </p:nvSpPr>
        <p:spPr>
          <a:xfrm>
            <a:off x="263945" y="828675"/>
            <a:ext cx="9378111" cy="52832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2" dirty="0"/>
          </a:p>
        </p:txBody>
      </p:sp>
      <p:grpSp>
        <p:nvGrpSpPr>
          <p:cNvPr id="10" name="Group 10"/>
          <p:cNvGrpSpPr/>
          <p:nvPr/>
        </p:nvGrpSpPr>
        <p:grpSpPr>
          <a:xfrm>
            <a:off x="2743200" y="1463208"/>
            <a:ext cx="3855051" cy="386998"/>
            <a:chOff x="0" y="0"/>
            <a:chExt cx="1007129" cy="188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7129" cy="188170"/>
            </a:xfrm>
            <a:custGeom>
              <a:avLst/>
              <a:gdLst/>
              <a:ahLst/>
              <a:cxnLst/>
              <a:rect l="l" t="t" r="r" b="b"/>
              <a:pathLst>
                <a:path w="1007129" h="188170">
                  <a:moveTo>
                    <a:pt x="94085" y="0"/>
                  </a:moveTo>
                  <a:lnTo>
                    <a:pt x="913044" y="0"/>
                  </a:lnTo>
                  <a:cubicBezTo>
                    <a:pt x="965006" y="0"/>
                    <a:pt x="1007129" y="42123"/>
                    <a:pt x="1007129" y="94085"/>
                  </a:cubicBezTo>
                  <a:lnTo>
                    <a:pt x="1007129" y="94085"/>
                  </a:lnTo>
                  <a:cubicBezTo>
                    <a:pt x="1007129" y="119038"/>
                    <a:pt x="997217" y="142969"/>
                    <a:pt x="979573" y="160613"/>
                  </a:cubicBezTo>
                  <a:cubicBezTo>
                    <a:pt x="961928" y="178257"/>
                    <a:pt x="937997" y="188170"/>
                    <a:pt x="913044" y="188170"/>
                  </a:cubicBezTo>
                  <a:lnTo>
                    <a:pt x="94085" y="188170"/>
                  </a:lnTo>
                  <a:cubicBezTo>
                    <a:pt x="42123" y="188170"/>
                    <a:pt x="0" y="146047"/>
                    <a:pt x="0" y="94085"/>
                  </a:cubicBezTo>
                  <a:lnTo>
                    <a:pt x="0" y="94085"/>
                  </a:lnTo>
                  <a:cubicBezTo>
                    <a:pt x="0" y="42123"/>
                    <a:pt x="42123" y="0"/>
                    <a:pt x="94085" y="0"/>
                  </a:cubicBezTo>
                  <a:close/>
                </a:path>
              </a:pathLst>
            </a:custGeom>
            <a:solidFill>
              <a:srgbClr val="FF403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07129" cy="226270"/>
            </a:xfrm>
            <a:prstGeom prst="rect">
              <a:avLst/>
            </a:prstGeom>
          </p:spPr>
          <p:txBody>
            <a:bodyPr lIns="27517" tIns="27517" rIns="27517" bIns="27517" rtlCol="0" anchor="ctr"/>
            <a:lstStyle/>
            <a:p>
              <a:pPr algn="ctr">
                <a:lnSpc>
                  <a:spcPts val="1440"/>
                </a:lnSpc>
                <a:spcBef>
                  <a:spcPct val="0"/>
                </a:spcBef>
              </a:pPr>
              <a:endParaRPr sz="572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66800" y="2204776"/>
            <a:ext cx="8030128" cy="129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57"/>
              </a:lnSpc>
              <a:spcBef>
                <a:spcPct val="0"/>
              </a:spcBef>
            </a:pPr>
            <a:r>
              <a:rPr lang="en-US" altLang="ko-KR" sz="3200" dirty="0"/>
              <a:t>PCA </a:t>
            </a:r>
            <a:r>
              <a:rPr lang="ko-KR" altLang="en-US" sz="3200" dirty="0"/>
              <a:t>기반 차원 축소와 회귀 분석을 통한 영화 흥행 및 관객 평점 예측 모델 구축</a:t>
            </a:r>
            <a:endParaRPr lang="en-US" sz="3200" b="1" dirty="0">
              <a:latin typeface="Roca One"/>
              <a:ea typeface="Roca One"/>
              <a:cs typeface="Roca One"/>
              <a:sym typeface="Roca On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984427" y="1494874"/>
            <a:ext cx="3613824" cy="275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75"/>
              </a:lnSpc>
            </a:pPr>
            <a:r>
              <a:rPr lang="en-US" sz="1625" dirty="0">
                <a:solidFill>
                  <a:srgbClr val="FFFFFF"/>
                </a:solidFill>
                <a:ea typeface="DM Sans Bold"/>
                <a:cs typeface="DM Sans Bold"/>
                <a:sym typeface="DM Sans Bold"/>
              </a:rPr>
              <a:t>2024 </a:t>
            </a:r>
            <a:r>
              <a:rPr lang="ko-KR" altLang="en-US" sz="1625" dirty="0">
                <a:solidFill>
                  <a:srgbClr val="FFFFFF"/>
                </a:solidFill>
                <a:ea typeface="DM Sans Bold"/>
                <a:cs typeface="DM Sans Bold"/>
                <a:sym typeface="DM Sans Bold"/>
              </a:rPr>
              <a:t>데이터분석 프로젝트</a:t>
            </a:r>
            <a:endParaRPr lang="en-US" sz="1625" dirty="0">
              <a:solidFill>
                <a:srgbClr val="FFFFFF"/>
              </a:solidFill>
              <a:ea typeface="DM Sans Bold"/>
              <a:cs typeface="DM Sans Bold"/>
              <a:sym typeface="DM Sans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B8C93-3A2D-9726-5458-E4E9A5E22B62}"/>
              </a:ext>
            </a:extLst>
          </p:cNvPr>
          <p:cNvSpPr txBox="1"/>
          <p:nvPr/>
        </p:nvSpPr>
        <p:spPr>
          <a:xfrm>
            <a:off x="3637279" y="4204014"/>
            <a:ext cx="23503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학번</a:t>
            </a:r>
            <a:r>
              <a:rPr lang="en-US" altLang="ko-KR" sz="2400" dirty="0"/>
              <a:t>: 202212004</a:t>
            </a:r>
          </a:p>
          <a:p>
            <a:r>
              <a:rPr lang="ko-KR" altLang="en-US" sz="2400" dirty="0"/>
              <a:t>이름</a:t>
            </a:r>
            <a:r>
              <a:rPr lang="en-US" altLang="ko-KR" sz="2400" dirty="0"/>
              <a:t>: </a:t>
            </a:r>
            <a:r>
              <a:rPr lang="ko-KR" altLang="en-US" sz="2400" dirty="0"/>
              <a:t>황민서</a:t>
            </a:r>
          </a:p>
        </p:txBody>
      </p:sp>
    </p:spTree>
    <p:extLst>
      <p:ext uri="{BB962C8B-B14F-4D97-AF65-F5344CB8AC3E}">
        <p14:creationId xmlns:p14="http://schemas.microsoft.com/office/powerpoint/2010/main" val="407948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9F1DD-AA25-6DE1-B155-164BAB89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3983EC2-0729-8D7E-C9A4-979587A4E40F}"/>
              </a:ext>
            </a:extLst>
          </p:cNvPr>
          <p:cNvSpPr/>
          <p:nvPr/>
        </p:nvSpPr>
        <p:spPr>
          <a:xfrm>
            <a:off x="371336" y="548217"/>
            <a:ext cx="9378111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2" dirty="0"/>
          </a:p>
        </p:txBody>
      </p:sp>
      <p:sp>
        <p:nvSpPr>
          <p:cNvPr id="8" name="슬라이드 번호 개체 틀 18">
            <a:extLst>
              <a:ext uri="{FF2B5EF4-FFF2-40B4-BE49-F238E27FC236}">
                <a16:creationId xmlns:a16="http://schemas.microsoft.com/office/drawing/2014/main" id="{4AB3185A-3E67-0507-ECDC-30BA0C69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248400"/>
            <a:ext cx="1155700" cy="243417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2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1CE863-7F5D-6602-E36B-9C83E2C0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389" y="-37620"/>
            <a:ext cx="5457673" cy="762000"/>
          </a:xfrm>
          <a:noFill/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* </a:t>
            </a:r>
            <a:r>
              <a:rPr lang="ko-KR" altLang="en-US" dirty="0"/>
              <a:t>목차 </a:t>
            </a:r>
            <a:r>
              <a:rPr lang="en-US" altLang="ko-KR" dirty="0"/>
              <a:t>*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411CFA-4FB6-205B-1AE8-1995ABAF8A20}"/>
              </a:ext>
            </a:extLst>
          </p:cNvPr>
          <p:cNvSpPr txBox="1"/>
          <p:nvPr/>
        </p:nvSpPr>
        <p:spPr>
          <a:xfrm>
            <a:off x="2323214" y="959570"/>
            <a:ext cx="495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프로젝트의 목적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FF27C-A291-C0A4-4326-018E8BAEA47B}"/>
              </a:ext>
            </a:extLst>
          </p:cNvPr>
          <p:cNvSpPr txBox="1"/>
          <p:nvPr/>
        </p:nvSpPr>
        <p:spPr>
          <a:xfrm>
            <a:off x="2317898" y="1410306"/>
            <a:ext cx="495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2. </a:t>
            </a:r>
            <a:r>
              <a:rPr lang="ko-KR" altLang="en-US" sz="2400" dirty="0"/>
              <a:t>데이터생성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28F67E-0FF3-794B-8AB3-BE4EE41CC5C4}"/>
              </a:ext>
            </a:extLst>
          </p:cNvPr>
          <p:cNvSpPr txBox="1"/>
          <p:nvPr/>
        </p:nvSpPr>
        <p:spPr>
          <a:xfrm>
            <a:off x="2317898" y="1893124"/>
            <a:ext cx="495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3. </a:t>
            </a:r>
            <a:r>
              <a:rPr lang="ko-KR" altLang="en-US" sz="2400" dirty="0"/>
              <a:t>데이터정제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FCE636-8D98-0BAA-A93D-D60CD3928607}"/>
              </a:ext>
            </a:extLst>
          </p:cNvPr>
          <p:cNvSpPr txBox="1"/>
          <p:nvPr/>
        </p:nvSpPr>
        <p:spPr>
          <a:xfrm>
            <a:off x="2317898" y="2424563"/>
            <a:ext cx="495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4. </a:t>
            </a:r>
            <a:r>
              <a:rPr lang="ko-KR" altLang="en-US" sz="2400" dirty="0"/>
              <a:t>주성분분석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CD64F5-FABB-2DE5-A2B2-68F30071BBC0}"/>
              </a:ext>
            </a:extLst>
          </p:cNvPr>
          <p:cNvSpPr txBox="1"/>
          <p:nvPr/>
        </p:nvSpPr>
        <p:spPr>
          <a:xfrm>
            <a:off x="2342707" y="2947807"/>
            <a:ext cx="495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5. </a:t>
            </a:r>
            <a:r>
              <a:rPr lang="ko-KR" altLang="en-US" sz="2400" dirty="0"/>
              <a:t>상관관계 분석</a:t>
            </a:r>
            <a:endParaRPr lang="en-US" altLang="ko-KR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8AA169-8EFB-50E9-347E-DB5F19BC25AB}"/>
              </a:ext>
            </a:extLst>
          </p:cNvPr>
          <p:cNvSpPr txBox="1"/>
          <p:nvPr/>
        </p:nvSpPr>
        <p:spPr>
          <a:xfrm>
            <a:off x="2342707" y="3505503"/>
            <a:ext cx="495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6. </a:t>
            </a:r>
            <a:r>
              <a:rPr lang="ko-KR" altLang="en-US" sz="2400" dirty="0"/>
              <a:t>시계열 분석</a:t>
            </a:r>
            <a:endParaRPr lang="en-US" altLang="ko-KR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1BD1BA-1FBB-325E-B6ED-25DC668D6670}"/>
              </a:ext>
            </a:extLst>
          </p:cNvPr>
          <p:cNvSpPr txBox="1"/>
          <p:nvPr/>
        </p:nvSpPr>
        <p:spPr>
          <a:xfrm>
            <a:off x="2342707" y="4002490"/>
            <a:ext cx="495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7. </a:t>
            </a:r>
            <a:r>
              <a:rPr lang="ko-KR" altLang="en-US" sz="2400" dirty="0"/>
              <a:t>선형회귀분석</a:t>
            </a:r>
            <a:endParaRPr lang="en-US" altLang="ko-KR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660330-91FE-1CFA-B08C-2F3CC76DA440}"/>
              </a:ext>
            </a:extLst>
          </p:cNvPr>
          <p:cNvSpPr txBox="1"/>
          <p:nvPr/>
        </p:nvSpPr>
        <p:spPr>
          <a:xfrm>
            <a:off x="2365744" y="4458190"/>
            <a:ext cx="495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8. </a:t>
            </a:r>
            <a:r>
              <a:rPr lang="ko-KR" altLang="en-US" sz="2400" dirty="0"/>
              <a:t>제</a:t>
            </a:r>
            <a:r>
              <a:rPr lang="en-US" altLang="ko-KR" sz="2400" dirty="0"/>
              <a:t>1</a:t>
            </a:r>
            <a:r>
              <a:rPr lang="ko-KR" altLang="en-US" sz="2400" dirty="0"/>
              <a:t>주성분을 이용한 예측</a:t>
            </a:r>
            <a:endParaRPr lang="en-US" altLang="ko-KR" sz="2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6CAB27-755C-E7C1-D18B-94D3182A5819}"/>
              </a:ext>
            </a:extLst>
          </p:cNvPr>
          <p:cNvSpPr txBox="1"/>
          <p:nvPr/>
        </p:nvSpPr>
        <p:spPr>
          <a:xfrm>
            <a:off x="2365744" y="4949212"/>
            <a:ext cx="4954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9. </a:t>
            </a:r>
            <a:r>
              <a:rPr lang="ko-KR" altLang="en-US" sz="2400" dirty="0"/>
              <a:t>데이터분석 결과</a:t>
            </a:r>
            <a:endParaRPr lang="en-US" altLang="ko-KR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29106C-9E78-D76A-53D1-655DFCD963C2}"/>
              </a:ext>
            </a:extLst>
          </p:cNvPr>
          <p:cNvSpPr txBox="1"/>
          <p:nvPr/>
        </p:nvSpPr>
        <p:spPr>
          <a:xfrm>
            <a:off x="2332495" y="5489681"/>
            <a:ext cx="6854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10. </a:t>
            </a:r>
            <a:r>
              <a:rPr lang="ko-KR" altLang="en-US" sz="2400" dirty="0"/>
              <a:t>참고자료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62115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02F10-8632-7794-1BF7-97BD84C5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11A5DAD-5B4B-4BD9-7240-58ABBB6B2220}"/>
              </a:ext>
            </a:extLst>
          </p:cNvPr>
          <p:cNvSpPr/>
          <p:nvPr/>
        </p:nvSpPr>
        <p:spPr>
          <a:xfrm>
            <a:off x="263944" y="548217"/>
            <a:ext cx="9378111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2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A41D4BF-A261-16DA-B70A-D300199EE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20" y="-29180"/>
            <a:ext cx="7256580" cy="76200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1. </a:t>
            </a:r>
            <a:r>
              <a:rPr lang="ko-KR" altLang="en-US" sz="2400" dirty="0"/>
              <a:t>프로젝트의 목적</a:t>
            </a:r>
          </a:p>
        </p:txBody>
      </p:sp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2248AC23-298D-49A6-A4D1-5CE9D53E634C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3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C384D0-621D-4731-21C3-D46CD31D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9650" y="4191000"/>
            <a:ext cx="1155700" cy="24341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65571B-8312-4F2D-9E55-5EBE4B953508}"/>
              </a:ext>
            </a:extLst>
          </p:cNvPr>
          <p:cNvSpPr txBox="1"/>
          <p:nvPr/>
        </p:nvSpPr>
        <p:spPr>
          <a:xfrm>
            <a:off x="820620" y="914400"/>
            <a:ext cx="8305800" cy="465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영화 전문 매체인 </a:t>
            </a:r>
            <a:r>
              <a:rPr lang="ko-KR" altLang="en-US" sz="2000" dirty="0" err="1"/>
              <a:t>씨네</a:t>
            </a:r>
            <a:r>
              <a:rPr lang="en-US" altLang="ko-KR" sz="2000" dirty="0"/>
              <a:t>21</a:t>
            </a:r>
            <a:r>
              <a:rPr lang="ko-KR" altLang="en-US" sz="2000" dirty="0"/>
              <a:t>에서 제공하는 메타데이터</a:t>
            </a:r>
            <a:r>
              <a:rPr lang="en-US" altLang="ko-KR" sz="2000" dirty="0"/>
              <a:t>(</a:t>
            </a:r>
            <a:r>
              <a:rPr lang="ko-KR" altLang="en-US" sz="2000" dirty="0"/>
              <a:t>장르</a:t>
            </a:r>
            <a:r>
              <a:rPr lang="en-US" altLang="ko-KR" sz="2000" dirty="0"/>
              <a:t>, </a:t>
            </a:r>
            <a:r>
              <a:rPr lang="ko-KR" altLang="en-US" sz="2000" dirty="0"/>
              <a:t>상영시간</a:t>
            </a:r>
            <a:r>
              <a:rPr lang="en-US" altLang="ko-KR" sz="2000" dirty="0"/>
              <a:t>, </a:t>
            </a:r>
            <a:r>
              <a:rPr lang="ko-KR" altLang="en-US" sz="2000" dirty="0"/>
              <a:t>개봉 시기</a:t>
            </a:r>
            <a:r>
              <a:rPr lang="en-US" altLang="ko-KR" sz="2000" dirty="0"/>
              <a:t>, </a:t>
            </a:r>
            <a:r>
              <a:rPr lang="ko-KR" altLang="en-US" sz="2000" dirty="0"/>
              <a:t>관람 등급</a:t>
            </a:r>
            <a:r>
              <a:rPr lang="en-US" altLang="ko-KR" sz="2000" dirty="0"/>
              <a:t>, </a:t>
            </a:r>
            <a:r>
              <a:rPr lang="ko-KR" altLang="en-US" sz="2000" dirty="0"/>
              <a:t>제작 국가</a:t>
            </a:r>
            <a:r>
              <a:rPr lang="en-US" altLang="ko-KR" sz="2000" dirty="0"/>
              <a:t>, </a:t>
            </a:r>
            <a:r>
              <a:rPr lang="ko-KR" altLang="en-US" sz="2000" dirty="0"/>
              <a:t>관객 수</a:t>
            </a:r>
            <a:r>
              <a:rPr lang="en-US" altLang="ko-KR" sz="2000" dirty="0"/>
              <a:t>, </a:t>
            </a:r>
            <a:r>
              <a:rPr lang="ko-KR" altLang="en-US" sz="2000" dirty="0"/>
              <a:t>전문가</a:t>
            </a:r>
            <a:r>
              <a:rPr lang="en-US" altLang="ko-KR" sz="2000" dirty="0"/>
              <a:t>·</a:t>
            </a:r>
            <a:r>
              <a:rPr lang="ko-KR" altLang="en-US" sz="2000" dirty="0"/>
              <a:t>관객 평점 등</a:t>
            </a:r>
            <a:r>
              <a:rPr lang="en-US" altLang="ko-KR" sz="2000" dirty="0"/>
              <a:t>)</a:t>
            </a:r>
            <a:r>
              <a:rPr lang="ko-KR" altLang="en-US" sz="2000" dirty="0"/>
              <a:t>를 바탕으로 </a:t>
            </a:r>
            <a:r>
              <a:rPr lang="en-US" altLang="ko-KR" sz="2000" dirty="0"/>
              <a:t>PCA(</a:t>
            </a:r>
            <a:r>
              <a:rPr lang="ko-KR" altLang="en-US" sz="2000" dirty="0"/>
              <a:t>주성분 분석</a:t>
            </a:r>
            <a:r>
              <a:rPr lang="en-US" altLang="ko-KR" sz="2000" dirty="0"/>
              <a:t>)</a:t>
            </a:r>
            <a:r>
              <a:rPr lang="ko-KR" altLang="en-US" sz="2000" dirty="0"/>
              <a:t>를 활용해 다차원 특성을 몇 개의 주요 성분으로 축소하고</a:t>
            </a:r>
            <a:r>
              <a:rPr lang="en-US" altLang="ko-KR" sz="2000" dirty="0"/>
              <a:t>, </a:t>
            </a:r>
            <a:r>
              <a:rPr lang="ko-KR" altLang="en-US" sz="2000" dirty="0"/>
              <a:t>이를 통해 영화의 흥행 성과</a:t>
            </a:r>
            <a:r>
              <a:rPr lang="en-US" altLang="ko-KR" sz="2000" dirty="0"/>
              <a:t>(</a:t>
            </a:r>
            <a:r>
              <a:rPr lang="ko-KR" altLang="en-US" sz="2000" dirty="0"/>
              <a:t>관객 수</a:t>
            </a:r>
            <a:r>
              <a:rPr lang="en-US" altLang="ko-KR" sz="2000" dirty="0"/>
              <a:t>)</a:t>
            </a:r>
            <a:r>
              <a:rPr lang="ko-KR" altLang="en-US" sz="2000" dirty="0"/>
              <a:t>와 평가 지표</a:t>
            </a:r>
            <a:r>
              <a:rPr lang="en-US" altLang="ko-KR" sz="2000" dirty="0"/>
              <a:t>(</a:t>
            </a:r>
            <a:r>
              <a:rPr lang="ko-KR" altLang="en-US" sz="2000" dirty="0"/>
              <a:t>관객 평점</a:t>
            </a:r>
            <a:r>
              <a:rPr lang="en-US" altLang="ko-KR" sz="2000" dirty="0"/>
              <a:t>)</a:t>
            </a:r>
            <a:r>
              <a:rPr lang="ko-KR" altLang="en-US" sz="2000" dirty="0"/>
              <a:t>를 예측하는 회귀 모델을 구축하는 데 목적이 있습니다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고차원 변수를 주성분으로 요약함으로써 분석의 효율성과 시각화를 높이고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씨네</a:t>
            </a:r>
            <a:r>
              <a:rPr lang="en-US" altLang="ko-KR" sz="2000" dirty="0"/>
              <a:t>21 </a:t>
            </a:r>
            <a:r>
              <a:rPr lang="ko-KR" altLang="en-US" sz="2000" dirty="0"/>
              <a:t>메타데이터에서 추출한 핵심 성분을 기반으로 회귀 분석을 수행하여 영화 흥행 및 관객 반응과 관련된 패턴과 주요 영향 요인을 파악하는 것이 주된 목표입니다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5766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3945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1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4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3604" y="-76827"/>
            <a:ext cx="6493509" cy="761999"/>
          </a:xfr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/>
              <a:t>2. </a:t>
            </a:r>
            <a:r>
              <a:rPr lang="ko-KR" altLang="en-US"/>
              <a:t>데이터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308" y="1006791"/>
            <a:ext cx="58766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hlinkClick r:id="rId2"/>
              </a:rPr>
              <a:t>https://cine21.com/movie/point</a:t>
            </a:r>
            <a:endParaRPr lang="en-US" altLang="ko-KR" sz="1600" dirty="0"/>
          </a:p>
          <a:p>
            <a:pPr lvl="0">
              <a:defRPr/>
            </a:pPr>
            <a:r>
              <a:rPr lang="ko-KR" altLang="en-US" sz="1600" dirty="0" err="1"/>
              <a:t>씨네</a:t>
            </a:r>
            <a:r>
              <a:rPr lang="en-US" altLang="ko-KR" sz="1600" dirty="0"/>
              <a:t>21 </a:t>
            </a:r>
            <a:r>
              <a:rPr lang="ko-KR" altLang="en-US" sz="1600" dirty="0"/>
              <a:t>사이트에서 영화 데이터 웹 </a:t>
            </a:r>
            <a:r>
              <a:rPr lang="ko-KR" altLang="en-US" sz="1600" dirty="0" err="1"/>
              <a:t>크롤링</a:t>
            </a:r>
            <a:endParaRPr lang="ko-KR" altLang="en-US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3C9486-5CF6-4ECB-BFA3-2F618162D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52600"/>
            <a:ext cx="6965970" cy="43193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B07AB6-5895-49B3-B6BD-615C6F323DB5}"/>
              </a:ext>
            </a:extLst>
          </p:cNvPr>
          <p:cNvSpPr txBox="1"/>
          <p:nvPr/>
        </p:nvSpPr>
        <p:spPr>
          <a:xfrm>
            <a:off x="3657600" y="703022"/>
            <a:ext cx="58766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분석에 사용할 영화 정보는 </a:t>
            </a:r>
            <a:r>
              <a:rPr lang="ko-KR" altLang="en-US" sz="1000" b="1" dirty="0" err="1"/>
              <a:t>씨네</a:t>
            </a:r>
            <a:r>
              <a:rPr lang="en-US" altLang="ko-KR" sz="1000" b="1" dirty="0"/>
              <a:t>21 </a:t>
            </a:r>
            <a:r>
              <a:rPr lang="ko-KR" altLang="en-US" sz="1000" b="1" dirty="0"/>
              <a:t>영화 평점 페이지를 웹 크롤링하여 직접 수집하였습니다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3944" y="54892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1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5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3604" y="-76827"/>
            <a:ext cx="6493509" cy="761999"/>
          </a:xfr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/>
              <a:t>2. </a:t>
            </a:r>
            <a:r>
              <a:rPr lang="ko-KR" altLang="en-US"/>
              <a:t>데이터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4306" y="972596"/>
            <a:ext cx="42820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/>
              <a:t>데이터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482" y="5424628"/>
            <a:ext cx="81770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/>
              <a:t>목록을 크롤링해서 구한 링크를 통해 세부 데이터 </a:t>
            </a:r>
            <a:r>
              <a:rPr lang="ko-KR" altLang="en-US" sz="2000" dirty="0" err="1"/>
              <a:t>크롤링</a:t>
            </a:r>
            <a:endParaRPr lang="ko-KR" altLang="en-US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54E3A51-9720-4FB3-9902-2E72BB866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93" y="1483936"/>
            <a:ext cx="6814951" cy="38640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6EA10F-C1EE-4D37-8E90-7A2FCC9648F5}"/>
              </a:ext>
            </a:extLst>
          </p:cNvPr>
          <p:cNvSpPr txBox="1"/>
          <p:nvPr/>
        </p:nvSpPr>
        <p:spPr>
          <a:xfrm>
            <a:off x="3657600" y="703022"/>
            <a:ext cx="5876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목록 페이지에서 얻은 링크를 활용해 각 영화의 세부 정보까지 크롤링함으로써 풍부한 메타데이터를 확보하였습니다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3945" y="52281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1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6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412" y="0"/>
            <a:ext cx="6490528" cy="568540"/>
          </a:xfr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01" y="923327"/>
            <a:ext cx="7937499" cy="5243936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import time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import re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import requests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import pandas as pd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from bs4 import </a:t>
            </a:r>
            <a:r>
              <a:rPr lang="en-US" altLang="ko-KR" sz="800" dirty="0" err="1"/>
              <a:t>BeautifulSoup</a:t>
            </a: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BASE_LIST_URL = "https://host.cine21.com/movie/lists/playing/"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HEADERS = {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"User-Agent": "Mozilla/5.0",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}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REQUEST_TIMEOUT = 10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REQUEST_DELAY = 0.3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fetch_html</a:t>
            </a:r>
            <a:r>
              <a:rPr lang="en-US" altLang="ko-KR" sz="800" dirty="0"/>
              <a:t>(</a:t>
            </a:r>
            <a:r>
              <a:rPr lang="en-US" altLang="ko-KR" sz="800" dirty="0" err="1"/>
              <a:t>url</a:t>
            </a:r>
            <a:r>
              <a:rPr lang="en-US" altLang="ko-KR" sz="800" dirty="0"/>
              <a:t>, params=None):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response = </a:t>
            </a:r>
            <a:r>
              <a:rPr lang="en-US" altLang="ko-KR" sz="800" dirty="0" err="1"/>
              <a:t>requests.get</a:t>
            </a:r>
            <a:r>
              <a:rPr lang="en-US" altLang="ko-KR" sz="800" dirty="0"/>
              <a:t>(</a:t>
            </a:r>
            <a:r>
              <a:rPr lang="en-US" altLang="ko-KR" sz="800" dirty="0" err="1"/>
              <a:t>url</a:t>
            </a:r>
            <a:r>
              <a:rPr lang="en-US" altLang="ko-KR" sz="800" dirty="0"/>
              <a:t>, headers=HEADERS, params=params, timeout=REQUEST_TIMEOUT)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response.raise_for_status</a:t>
            </a:r>
            <a:r>
              <a:rPr lang="en-US" altLang="ko-KR" sz="800" dirty="0"/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return </a:t>
            </a:r>
            <a:r>
              <a:rPr lang="en-US" altLang="ko-KR" sz="800" dirty="0" err="1"/>
              <a:t>response.text</a:t>
            </a: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clean_title</a:t>
            </a:r>
            <a:r>
              <a:rPr lang="en-US" altLang="ko-KR" sz="800" dirty="0"/>
              <a:t>(text):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if not text: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return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t = </a:t>
            </a:r>
            <a:r>
              <a:rPr lang="en-US" altLang="ko-KR" sz="800" dirty="0" err="1"/>
              <a:t>re.sub</a:t>
            </a:r>
            <a:r>
              <a:rPr lang="en-US" altLang="ko-KR" sz="800" dirty="0"/>
              <a:t>(r"\s+", " ", str(text)).strip()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for kw in ["</a:t>
            </a:r>
            <a:r>
              <a:rPr lang="ko-KR" altLang="en-US" sz="800" dirty="0"/>
              <a:t>개봉</a:t>
            </a:r>
            <a:r>
              <a:rPr lang="en-US" altLang="ko-KR" sz="800" dirty="0"/>
              <a:t>", "</a:t>
            </a:r>
            <a:r>
              <a:rPr lang="ko-KR" altLang="en-US" sz="800" dirty="0"/>
              <a:t>감독</a:t>
            </a:r>
            <a:r>
              <a:rPr lang="en-US" altLang="ko-KR" sz="800" dirty="0"/>
              <a:t>", "</a:t>
            </a:r>
            <a:r>
              <a:rPr lang="ko-KR" altLang="en-US" sz="800" dirty="0"/>
              <a:t>배우</a:t>
            </a:r>
            <a:r>
              <a:rPr lang="en-US" altLang="ko-KR" sz="800" dirty="0"/>
              <a:t>", "</a:t>
            </a:r>
            <a:r>
              <a:rPr lang="ko-KR" altLang="en-US" sz="800" dirty="0"/>
              <a:t>자세히 보기</a:t>
            </a:r>
            <a:r>
              <a:rPr lang="en-US" altLang="ko-KR" sz="800" dirty="0"/>
              <a:t>"]: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idx</a:t>
            </a:r>
            <a:r>
              <a:rPr lang="en-US" altLang="ko-KR" sz="800" dirty="0"/>
              <a:t> = </a:t>
            </a:r>
            <a:r>
              <a:rPr lang="en-US" altLang="ko-KR" sz="800" dirty="0" err="1"/>
              <a:t>t.find</a:t>
            </a:r>
            <a:r>
              <a:rPr lang="en-US" altLang="ko-KR" sz="800" dirty="0"/>
              <a:t>(kw)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if </a:t>
            </a:r>
            <a:r>
              <a:rPr lang="en-US" altLang="ko-KR" sz="800" dirty="0" err="1"/>
              <a:t>idx</a:t>
            </a:r>
            <a:r>
              <a:rPr lang="en-US" altLang="ko-KR" sz="800" dirty="0"/>
              <a:t> != -1: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t = t[:</a:t>
            </a:r>
            <a:r>
              <a:rPr lang="en-US" altLang="ko-KR" sz="800" dirty="0" err="1"/>
              <a:t>idx</a:t>
            </a:r>
            <a:r>
              <a:rPr lang="en-US" altLang="ko-KR" sz="800" dirty="0"/>
              <a:t>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break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return </a:t>
            </a:r>
            <a:r>
              <a:rPr lang="en-US" altLang="ko-KR" sz="800" dirty="0" err="1"/>
              <a:t>t.strip</a:t>
            </a:r>
            <a:r>
              <a:rPr lang="en-US" altLang="ko-KR" sz="800" dirty="0"/>
              <a:t>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043"/>
            <a:ext cx="524123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Code-1]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</a:t>
            </a:r>
            <a:r>
              <a:rPr lang="ko-KR" altLang="en-US" sz="1400" b="1" dirty="0" err="1">
                <a:solidFill>
                  <a:srgbClr val="F79646">
                    <a:lumMod val="50000"/>
                  </a:srgbClr>
                </a:solidFill>
                <a:latin typeface="+mn-ea"/>
              </a:rPr>
              <a:t>Overview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Data 크롤링하기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A0A0B-F637-4B62-B9D1-A0DA7367C5B0}"/>
              </a:ext>
            </a:extLst>
          </p:cNvPr>
          <p:cNvSpPr txBox="1"/>
          <p:nvPr/>
        </p:nvSpPr>
        <p:spPr>
          <a:xfrm>
            <a:off x="3173436" y="1159382"/>
            <a:ext cx="63515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이 코드는 목록 페이지에서 영화 제목과 기본 정보를 모으는 </a:t>
            </a:r>
            <a:r>
              <a:rPr lang="en-US" altLang="ko-KR" sz="1000" b="1" dirty="0"/>
              <a:t>Overview </a:t>
            </a:r>
            <a:r>
              <a:rPr lang="ko-KR" altLang="en-US" sz="1000" b="1" dirty="0"/>
              <a:t>데이터 </a:t>
            </a:r>
            <a:r>
              <a:rPr lang="ko-KR" altLang="en-US" sz="1000" b="1" dirty="0" err="1"/>
              <a:t>크롤링을</a:t>
            </a:r>
            <a:r>
              <a:rPr lang="ko-KR" altLang="en-US" sz="1000" b="1" dirty="0"/>
              <a:t> 구현한 부분입니다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58325885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3945" y="52281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1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7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412" y="0"/>
            <a:ext cx="6490528" cy="568540"/>
          </a:xfr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004" y="993036"/>
            <a:ext cx="7851252" cy="4874604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extract_movies_from_soup</a:t>
            </a:r>
            <a:r>
              <a:rPr lang="en-US" altLang="ko-KR" sz="800" dirty="0"/>
              <a:t>(soup):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rows = []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seen_ids</a:t>
            </a:r>
            <a:r>
              <a:rPr lang="en-US" altLang="ko-KR" sz="800" dirty="0"/>
              <a:t> = set()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for a in </a:t>
            </a:r>
            <a:r>
              <a:rPr lang="en-US" altLang="ko-KR" sz="800" dirty="0" err="1"/>
              <a:t>soup.find_all</a:t>
            </a:r>
            <a:r>
              <a:rPr lang="en-US" altLang="ko-KR" sz="800" dirty="0"/>
              <a:t>("a", </a:t>
            </a:r>
            <a:r>
              <a:rPr lang="en-US" altLang="ko-KR" sz="800" dirty="0" err="1"/>
              <a:t>href</a:t>
            </a:r>
            <a:r>
              <a:rPr lang="en-US" altLang="ko-KR" sz="800" dirty="0"/>
              <a:t>=True):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href</a:t>
            </a:r>
            <a:r>
              <a:rPr lang="en-US" altLang="ko-KR" sz="800" dirty="0"/>
              <a:t> = a["</a:t>
            </a:r>
            <a:r>
              <a:rPr lang="en-US" altLang="ko-KR" sz="800" dirty="0" err="1"/>
              <a:t>href</a:t>
            </a:r>
            <a:r>
              <a:rPr lang="en-US" altLang="ko-KR" sz="800" dirty="0"/>
              <a:t>"]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if "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=" not in </a:t>
            </a:r>
            <a:r>
              <a:rPr lang="en-US" altLang="ko-KR" sz="800" dirty="0" err="1"/>
              <a:t>href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continue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match = </a:t>
            </a:r>
            <a:r>
              <a:rPr lang="en-US" altLang="ko-KR" sz="800" dirty="0" err="1"/>
              <a:t>re.search</a:t>
            </a:r>
            <a:r>
              <a:rPr lang="en-US" altLang="ko-KR" sz="800" dirty="0"/>
              <a:t>(</a:t>
            </a:r>
            <a:r>
              <a:rPr lang="en-US" altLang="ko-KR" sz="800" dirty="0" err="1"/>
              <a:t>r"movie_id</a:t>
            </a:r>
            <a:r>
              <a:rPr lang="en-US" altLang="ko-KR" sz="800" dirty="0"/>
              <a:t>=(\d+)", </a:t>
            </a:r>
            <a:r>
              <a:rPr lang="en-US" altLang="ko-KR" sz="800" dirty="0" err="1"/>
              <a:t>href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if not match: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continue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 = int(</a:t>
            </a:r>
            <a:r>
              <a:rPr lang="en-US" altLang="ko-KR" sz="800" dirty="0" err="1"/>
              <a:t>match.group</a:t>
            </a:r>
            <a:r>
              <a:rPr lang="en-US" altLang="ko-KR" sz="800" dirty="0"/>
              <a:t>(1))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if 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 in </a:t>
            </a:r>
            <a:r>
              <a:rPr lang="en-US" altLang="ko-KR" sz="800" dirty="0" err="1"/>
              <a:t>seen_ids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continue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seen_ids.add</a:t>
            </a:r>
            <a:r>
              <a:rPr lang="en-US" altLang="ko-KR" sz="800" dirty="0"/>
              <a:t>(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raw = </a:t>
            </a:r>
            <a:r>
              <a:rPr lang="en-US" altLang="ko-KR" sz="800" dirty="0" err="1"/>
              <a:t>a.get_text</a:t>
            </a:r>
            <a:r>
              <a:rPr lang="en-US" altLang="ko-KR" sz="800" dirty="0"/>
              <a:t>(" ", strip=True)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title = </a:t>
            </a:r>
            <a:r>
              <a:rPr lang="en-US" altLang="ko-KR" sz="800" dirty="0" err="1"/>
              <a:t>clean_title</a:t>
            </a:r>
            <a:r>
              <a:rPr lang="en-US" altLang="ko-KR" sz="800" dirty="0"/>
              <a:t>(raw)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if not title: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continue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rows.append</a:t>
            </a:r>
            <a:r>
              <a:rPr lang="en-US" altLang="ko-KR" sz="800" dirty="0"/>
              <a:t>(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{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"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": 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"title": title,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}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return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043"/>
            <a:ext cx="524123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Code-1]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</a:t>
            </a:r>
            <a:r>
              <a:rPr lang="ko-KR" altLang="en-US" sz="1400" b="1" dirty="0" err="1">
                <a:solidFill>
                  <a:srgbClr val="F79646">
                    <a:lumMod val="50000"/>
                  </a:srgbClr>
                </a:solidFill>
                <a:latin typeface="+mn-ea"/>
              </a:rPr>
              <a:t>Overview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Data 크롤링하기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B4FFA6-65A8-49B4-8747-C34EA195402C}"/>
              </a:ext>
            </a:extLst>
          </p:cNvPr>
          <p:cNvSpPr txBox="1"/>
          <p:nvPr/>
        </p:nvSpPr>
        <p:spPr>
          <a:xfrm>
            <a:off x="3173436" y="1159382"/>
            <a:ext cx="63515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 b="1" dirty="0"/>
              <a:t>HTML </a:t>
            </a:r>
            <a:r>
              <a:rPr lang="ko-KR" altLang="en-US" sz="1000" b="1" dirty="0"/>
              <a:t>구조를 </a:t>
            </a:r>
            <a:r>
              <a:rPr lang="ko-KR" altLang="en-US" sz="1000" b="1" dirty="0" err="1"/>
              <a:t>파싱하여</a:t>
            </a:r>
            <a:r>
              <a:rPr lang="ko-KR" altLang="en-US" sz="1000" b="1" dirty="0"/>
              <a:t> 한 </a:t>
            </a:r>
            <a:r>
              <a:rPr lang="ko-KR" altLang="en-US" sz="1000" b="1" dirty="0" err="1"/>
              <a:t>영화씩</a:t>
            </a:r>
            <a:r>
              <a:rPr lang="ko-KR" altLang="en-US" sz="1000" b="1" dirty="0"/>
              <a:t> 행</a:t>
            </a:r>
            <a:r>
              <a:rPr lang="en-US" altLang="ko-KR" sz="1000" b="1" dirty="0"/>
              <a:t>(row) </a:t>
            </a:r>
            <a:r>
              <a:rPr lang="ko-KR" altLang="en-US" sz="1000" b="1" dirty="0"/>
              <a:t>형태의 </a:t>
            </a:r>
            <a:r>
              <a:rPr lang="ko-KR" altLang="en-US" sz="1000" b="1" dirty="0" err="1"/>
              <a:t>딕셔너리로</a:t>
            </a:r>
            <a:r>
              <a:rPr lang="ko-KR" altLang="en-US" sz="1000" b="1" dirty="0"/>
              <a:t> 정리해 </a:t>
            </a:r>
            <a:r>
              <a:rPr lang="ko-KR" altLang="en-US" sz="1000" b="1" dirty="0" err="1"/>
              <a:t>크롤링</a:t>
            </a:r>
            <a:r>
              <a:rPr lang="ko-KR" altLang="en-US" sz="1000" b="1" dirty="0"/>
              <a:t> 결과를 표 형태 데이터로 변환합니다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3945" y="52281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1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8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412" y="0"/>
            <a:ext cx="6490528" cy="568540"/>
          </a:xfr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004" y="993036"/>
            <a:ext cx="7851252" cy="5243936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fetch_list_page</a:t>
            </a:r>
            <a:r>
              <a:rPr lang="en-US" altLang="ko-KR" sz="800" dirty="0"/>
              <a:t>(page=1):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html = </a:t>
            </a:r>
            <a:r>
              <a:rPr lang="en-US" altLang="ko-KR" sz="800" dirty="0" err="1"/>
              <a:t>fetch_html</a:t>
            </a:r>
            <a:r>
              <a:rPr lang="en-US" altLang="ko-KR" sz="800" dirty="0"/>
              <a:t>(BASE_LIST_URL, params={"p": page})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soup = </a:t>
            </a:r>
            <a:r>
              <a:rPr lang="en-US" altLang="ko-KR" sz="800" dirty="0" err="1"/>
              <a:t>BeautifulSoup</a:t>
            </a:r>
            <a:r>
              <a:rPr lang="en-US" altLang="ko-KR" sz="800" dirty="0"/>
              <a:t>(html, "</a:t>
            </a:r>
            <a:r>
              <a:rPr lang="en-US" altLang="ko-KR" sz="800" dirty="0" err="1"/>
              <a:t>html.parser</a:t>
            </a:r>
            <a:r>
              <a:rPr lang="en-US" altLang="ko-KR" sz="800" dirty="0"/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return </a:t>
            </a:r>
            <a:r>
              <a:rPr lang="en-US" altLang="ko-KR" sz="800" dirty="0" err="1"/>
              <a:t>extract_movies_from_soup</a:t>
            </a:r>
            <a:r>
              <a:rPr lang="en-US" altLang="ko-KR" sz="800" dirty="0"/>
              <a:t>(soup)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crawl_overview_data</a:t>
            </a:r>
            <a:r>
              <a:rPr lang="en-US" altLang="ko-KR" sz="800" dirty="0"/>
              <a:t>(</a:t>
            </a:r>
            <a:r>
              <a:rPr lang="en-US" altLang="ko-KR" sz="800" dirty="0" err="1"/>
              <a:t>max_pages</a:t>
            </a:r>
            <a:r>
              <a:rPr lang="en-US" altLang="ko-KR" sz="800" dirty="0"/>
              <a:t>=100, </a:t>
            </a:r>
            <a:r>
              <a:rPr lang="en-US" altLang="ko-KR" sz="800" dirty="0" err="1"/>
              <a:t>max_movies</a:t>
            </a:r>
            <a:r>
              <a:rPr lang="en-US" altLang="ko-KR" sz="800" dirty="0"/>
              <a:t>=None):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all_rows</a:t>
            </a:r>
            <a:r>
              <a:rPr lang="en-US" altLang="ko-KR" sz="800" dirty="0"/>
              <a:t> = []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seen_global</a:t>
            </a:r>
            <a:r>
              <a:rPr lang="en-US" altLang="ko-KR" sz="800" dirty="0"/>
              <a:t> = set()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rank = 0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for page in range(1, </a:t>
            </a:r>
            <a:r>
              <a:rPr lang="en-US" altLang="ko-KR" sz="800" dirty="0" err="1"/>
              <a:t>max_pages</a:t>
            </a:r>
            <a:r>
              <a:rPr lang="en-US" altLang="ko-KR" sz="800" dirty="0"/>
              <a:t> + 1):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rows = </a:t>
            </a:r>
            <a:r>
              <a:rPr lang="en-US" altLang="ko-KR" sz="800" dirty="0" err="1"/>
              <a:t>fetch_list_page</a:t>
            </a:r>
            <a:r>
              <a:rPr lang="en-US" altLang="ko-KR" sz="800" dirty="0"/>
              <a:t>(page=page)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if not rows: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break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new_rows</a:t>
            </a:r>
            <a:r>
              <a:rPr lang="en-US" altLang="ko-KR" sz="800" dirty="0"/>
              <a:t> = []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for row in rows: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 = row["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"]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if 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 in </a:t>
            </a:r>
            <a:r>
              <a:rPr lang="en-US" altLang="ko-KR" sz="800" dirty="0" err="1"/>
              <a:t>seen_global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continue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</a:t>
            </a:r>
            <a:r>
              <a:rPr lang="en-US" altLang="ko-KR" sz="800" dirty="0" err="1"/>
              <a:t>seen_global.add</a:t>
            </a:r>
            <a:r>
              <a:rPr lang="en-US" altLang="ko-KR" sz="800" dirty="0"/>
              <a:t>(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rank += 1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row["rank"] = rank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</a:t>
            </a:r>
            <a:r>
              <a:rPr lang="en-US" altLang="ko-KR" sz="800" dirty="0" err="1"/>
              <a:t>new_rows.append</a:t>
            </a:r>
            <a:r>
              <a:rPr lang="en-US" altLang="ko-KR" sz="800" dirty="0"/>
              <a:t>(row)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if </a:t>
            </a:r>
            <a:r>
              <a:rPr lang="en-US" altLang="ko-KR" sz="800" dirty="0" err="1"/>
              <a:t>max_movies</a:t>
            </a:r>
            <a:r>
              <a:rPr lang="en-US" altLang="ko-KR" sz="800" dirty="0"/>
              <a:t> is not None and rank &gt;= </a:t>
            </a:r>
            <a:r>
              <a:rPr lang="en-US" altLang="ko-KR" sz="800" dirty="0" err="1"/>
              <a:t>max_movies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</a:t>
            </a:r>
            <a:r>
              <a:rPr lang="en-US" altLang="ko-KR" sz="800" dirty="0" err="1"/>
              <a:t>all_rows.extend</a:t>
            </a:r>
            <a:r>
              <a:rPr lang="en-US" altLang="ko-KR" sz="800" dirty="0"/>
              <a:t>(</a:t>
            </a:r>
            <a:r>
              <a:rPr lang="en-US" altLang="ko-KR" sz="800" dirty="0" err="1"/>
              <a:t>new_rows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return </a:t>
            </a:r>
            <a:r>
              <a:rPr lang="en-US" altLang="ko-KR" sz="800" dirty="0" err="1"/>
              <a:t>pd.DataFrame</a:t>
            </a:r>
            <a:r>
              <a:rPr lang="en-US" altLang="ko-KR" sz="800" dirty="0"/>
              <a:t>(</a:t>
            </a:r>
            <a:r>
              <a:rPr lang="en-US" altLang="ko-KR" sz="800" dirty="0" err="1"/>
              <a:t>all_rows</a:t>
            </a:r>
            <a:r>
              <a:rPr lang="en-US" altLang="ko-KR" sz="8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043"/>
            <a:ext cx="524123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Code-1]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</a:t>
            </a:r>
            <a:r>
              <a:rPr lang="ko-KR" altLang="en-US" sz="1400" b="1" dirty="0" err="1">
                <a:solidFill>
                  <a:srgbClr val="F79646">
                    <a:lumMod val="50000"/>
                  </a:srgbClr>
                </a:solidFill>
                <a:latin typeface="+mn-ea"/>
              </a:rPr>
              <a:t>Overview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Data 크롤링하기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513CF-5A02-45A0-B9F5-D9D9BB18E44A}"/>
              </a:ext>
            </a:extLst>
          </p:cNvPr>
          <p:cNvSpPr txBox="1"/>
          <p:nvPr/>
        </p:nvSpPr>
        <p:spPr>
          <a:xfrm>
            <a:off x="4760935" y="1280995"/>
            <a:ext cx="3582428" cy="1919949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if not </a:t>
            </a:r>
            <a:r>
              <a:rPr lang="en-US" altLang="ko-KR" sz="800" dirty="0" err="1"/>
              <a:t>new_rows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break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all_rows.extend</a:t>
            </a:r>
            <a:r>
              <a:rPr lang="en-US" altLang="ko-KR" sz="800" dirty="0"/>
              <a:t>(</a:t>
            </a:r>
            <a:r>
              <a:rPr lang="en-US" altLang="ko-KR" sz="800" dirty="0" err="1"/>
              <a:t>new_rows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time.sleep</a:t>
            </a:r>
            <a:r>
              <a:rPr lang="en-US" altLang="ko-KR" sz="800" dirty="0"/>
              <a:t>(REQUEST_DELAY)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return </a:t>
            </a:r>
            <a:r>
              <a:rPr lang="en-US" altLang="ko-KR" sz="800" dirty="0" err="1"/>
              <a:t>pd.DataFrame</a:t>
            </a:r>
            <a:r>
              <a:rPr lang="en-US" altLang="ko-KR" sz="800" dirty="0"/>
              <a:t>(</a:t>
            </a:r>
            <a:r>
              <a:rPr lang="en-US" altLang="ko-KR" sz="800" dirty="0" err="1"/>
              <a:t>all_rows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 err="1"/>
              <a:t>overview_df</a:t>
            </a:r>
            <a:r>
              <a:rPr lang="en-US" altLang="ko-KR" sz="800" dirty="0"/>
              <a:t> = </a:t>
            </a:r>
            <a:r>
              <a:rPr lang="en-US" altLang="ko-KR" sz="800" dirty="0" err="1"/>
              <a:t>crawl_overview_data</a:t>
            </a:r>
            <a:r>
              <a:rPr lang="en-US" altLang="ko-KR" sz="800" dirty="0"/>
              <a:t>(</a:t>
            </a:r>
            <a:r>
              <a:rPr lang="en-US" altLang="ko-KR" sz="800" dirty="0" err="1"/>
              <a:t>max_pages</a:t>
            </a:r>
            <a:r>
              <a:rPr lang="en-US" altLang="ko-KR" sz="800" dirty="0"/>
              <a:t>=10, </a:t>
            </a:r>
            <a:r>
              <a:rPr lang="en-US" altLang="ko-KR" sz="800" dirty="0" err="1"/>
              <a:t>max_movies</a:t>
            </a:r>
            <a:r>
              <a:rPr lang="en-US" altLang="ko-KR" sz="800" dirty="0"/>
              <a:t>=1000)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 err="1"/>
              <a:t>overview_df.head</a:t>
            </a:r>
            <a:r>
              <a:rPr lang="en-US" altLang="ko-KR" sz="800" dirty="0"/>
              <a:t>()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B25B29-A0E0-4425-B940-6A3CF92E8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630" y="4653208"/>
            <a:ext cx="3934374" cy="19719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F20AC3-1450-447B-A578-C3295AB54941}"/>
              </a:ext>
            </a:extLst>
          </p:cNvPr>
          <p:cNvSpPr txBox="1"/>
          <p:nvPr/>
        </p:nvSpPr>
        <p:spPr>
          <a:xfrm>
            <a:off x="3227317" y="3840795"/>
            <a:ext cx="63515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여러 페이지를 순회하며 중복을 제거하고 영화 </a:t>
            </a:r>
            <a:r>
              <a:rPr lang="en-US" altLang="ko-KR" sz="1000" b="1" dirty="0"/>
              <a:t>ID</a:t>
            </a:r>
            <a:r>
              <a:rPr lang="ko-KR" altLang="en-US" sz="1000" b="1" dirty="0"/>
              <a:t>를 수집하여 전체 영화 목록을 완성하였습니다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28708712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3945" y="52281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1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9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412" y="0"/>
            <a:ext cx="6490528" cy="568540"/>
          </a:xfr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004" y="993036"/>
            <a:ext cx="7985396" cy="4689938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import time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import re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import requests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import pandas as pd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from bs4 import </a:t>
            </a:r>
            <a:r>
              <a:rPr lang="en-US" altLang="ko-KR" sz="800" dirty="0" err="1"/>
              <a:t>BeautifulSoup</a:t>
            </a: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BASE_INFO_URL = "https://cine21.com/movie/info/"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HEADERS = {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"User-Agent": "Mozilla/5.0",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}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REQUEST_TIMEOUT = 10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REQUEST_DELAY = 0.3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fetch_html</a:t>
            </a:r>
            <a:r>
              <a:rPr lang="en-US" altLang="ko-KR" sz="800" dirty="0"/>
              <a:t>(</a:t>
            </a:r>
            <a:r>
              <a:rPr lang="en-US" altLang="ko-KR" sz="800" dirty="0" err="1"/>
              <a:t>url</a:t>
            </a:r>
            <a:r>
              <a:rPr lang="en-US" altLang="ko-KR" sz="800" dirty="0"/>
              <a:t>, params=None):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response = </a:t>
            </a:r>
            <a:r>
              <a:rPr lang="en-US" altLang="ko-KR" sz="800" dirty="0" err="1"/>
              <a:t>requests.get</a:t>
            </a:r>
            <a:r>
              <a:rPr lang="en-US" altLang="ko-KR" sz="800" dirty="0"/>
              <a:t>(</a:t>
            </a:r>
            <a:r>
              <a:rPr lang="en-US" altLang="ko-KR" sz="800" dirty="0" err="1"/>
              <a:t>url</a:t>
            </a:r>
            <a:r>
              <a:rPr lang="en-US" altLang="ko-KR" sz="800" dirty="0"/>
              <a:t>, headers=HEADERS, params=params, timeout=REQUEST_TIMEOUT)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response.raise_for_status</a:t>
            </a:r>
            <a:r>
              <a:rPr lang="en-US" altLang="ko-KR" sz="800" dirty="0"/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return </a:t>
            </a:r>
            <a:r>
              <a:rPr lang="en-US" altLang="ko-KR" sz="800" dirty="0" err="1"/>
              <a:t>response.text</a:t>
            </a: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to_int</a:t>
            </a:r>
            <a:r>
              <a:rPr lang="en-US" altLang="ko-KR" sz="800" dirty="0"/>
              <a:t>(text):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if text is None: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return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s = </a:t>
            </a:r>
            <a:r>
              <a:rPr lang="en-US" altLang="ko-KR" sz="800" dirty="0" err="1"/>
              <a:t>re.sub</a:t>
            </a:r>
            <a:r>
              <a:rPr lang="en-US" altLang="ko-KR" sz="800" dirty="0"/>
              <a:t>(r"[^0-9]", "", str(text))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return int(s) if s else None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043"/>
            <a:ext cx="524123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Code-2]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Detailed Data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크롤링하기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24FBC7-79ED-4704-AB33-27DB902F6A4D}"/>
              </a:ext>
            </a:extLst>
          </p:cNvPr>
          <p:cNvSpPr txBox="1"/>
          <p:nvPr/>
        </p:nvSpPr>
        <p:spPr>
          <a:xfrm>
            <a:off x="4724400" y="995856"/>
            <a:ext cx="3505199" cy="4564326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to_float</a:t>
            </a:r>
            <a:r>
              <a:rPr lang="en-US" altLang="ko-KR" sz="800" dirty="0"/>
              <a:t>(text):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if text is None: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return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s = str(text).</a:t>
            </a:r>
            <a:r>
              <a:rPr lang="en-US" altLang="ko-KR" dirty="0"/>
              <a:t>strip</a:t>
            </a:r>
            <a:r>
              <a:rPr lang="en-US" altLang="ko-KR" sz="800" dirty="0"/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try: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return float(s)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except </a:t>
            </a:r>
            <a:r>
              <a:rPr lang="en-US" altLang="ko-KR" sz="800" dirty="0" err="1"/>
              <a:t>ValueError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s = </a:t>
            </a:r>
            <a:r>
              <a:rPr lang="en-US" altLang="ko-KR" sz="800" dirty="0" err="1"/>
              <a:t>s.replace</a:t>
            </a:r>
            <a:r>
              <a:rPr lang="en-US" altLang="ko-KR" sz="800" dirty="0"/>
              <a:t>(",", "")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try: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return float(s)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except </a:t>
            </a:r>
            <a:r>
              <a:rPr lang="en-US" altLang="ko-KR" sz="800" dirty="0" err="1"/>
              <a:t>ValueError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return None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parse_movie_info_html</a:t>
            </a:r>
            <a:r>
              <a:rPr lang="en-US" altLang="ko-KR" sz="800" dirty="0"/>
              <a:t>(html):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soup = </a:t>
            </a:r>
            <a:r>
              <a:rPr lang="en-US" altLang="ko-KR" sz="800" dirty="0" err="1"/>
              <a:t>BeautifulSoup</a:t>
            </a:r>
            <a:r>
              <a:rPr lang="en-US" altLang="ko-KR" sz="800" dirty="0"/>
              <a:t>(html, "</a:t>
            </a:r>
            <a:r>
              <a:rPr lang="en-US" altLang="ko-KR" sz="800" dirty="0" err="1"/>
              <a:t>html.parser</a:t>
            </a:r>
            <a:r>
              <a:rPr lang="en-US" altLang="ko-KR" sz="800" dirty="0"/>
              <a:t>")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info_block</a:t>
            </a:r>
            <a:r>
              <a:rPr lang="en-US" altLang="ko-KR" sz="800" dirty="0"/>
              <a:t> = </a:t>
            </a:r>
            <a:r>
              <a:rPr lang="en-US" altLang="ko-KR" sz="800" dirty="0" err="1"/>
              <a:t>soup.find</a:t>
            </a:r>
            <a:r>
              <a:rPr lang="en-US" altLang="ko-KR" sz="800" dirty="0"/>
              <a:t>("div", class_="</a:t>
            </a:r>
            <a:r>
              <a:rPr lang="en-US" altLang="ko-KR" sz="800" dirty="0" err="1"/>
              <a:t>movie_detail_info</a:t>
            </a:r>
            <a:r>
              <a:rPr lang="en-US" altLang="ko-KR" sz="800" dirty="0"/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if </a:t>
            </a:r>
            <a:r>
              <a:rPr lang="en-US" altLang="ko-KR" sz="800" dirty="0" err="1"/>
              <a:t>info_block</a:t>
            </a:r>
            <a:r>
              <a:rPr lang="en-US" altLang="ko-KR" sz="800" dirty="0"/>
              <a:t> is None: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info_block</a:t>
            </a:r>
            <a:r>
              <a:rPr lang="en-US" altLang="ko-KR" sz="800" dirty="0"/>
              <a:t> = soup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title_ko</a:t>
            </a:r>
            <a:r>
              <a:rPr lang="en-US" altLang="ko-KR" sz="800" dirty="0"/>
              <a:t> =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title_en</a:t>
            </a:r>
            <a:r>
              <a:rPr lang="en-US" altLang="ko-KR" sz="800" dirty="0"/>
              <a:t> =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year = None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BFD83-665A-4D44-B660-EA932ED21274}"/>
              </a:ext>
            </a:extLst>
          </p:cNvPr>
          <p:cNvSpPr txBox="1"/>
          <p:nvPr/>
        </p:nvSpPr>
        <p:spPr>
          <a:xfrm>
            <a:off x="2362201" y="5842577"/>
            <a:ext cx="655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정규표현식과 </a:t>
            </a:r>
            <a:r>
              <a:rPr lang="ko-KR" altLang="en-US" sz="1000" b="1" dirty="0" err="1"/>
              <a:t>전처리</a:t>
            </a:r>
            <a:r>
              <a:rPr lang="ko-KR" altLang="en-US" sz="1000" b="1" dirty="0"/>
              <a:t> 함수를 활용해 텍스트에서 숫자와 핵심 정보를 안정적으로 추출할 수 있도록 설계하였습니다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59024588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3945" y="52281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1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10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412" y="0"/>
            <a:ext cx="6490528" cy="568540"/>
          </a:xfr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004" y="993036"/>
            <a:ext cx="7985396" cy="5059270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</a:t>
            </a:r>
            <a:r>
              <a:rPr lang="en-US" altLang="ko-KR" sz="800" dirty="0" err="1"/>
              <a:t>title_block</a:t>
            </a:r>
            <a:r>
              <a:rPr lang="en-US" altLang="ko-KR" sz="800" dirty="0"/>
              <a:t> = </a:t>
            </a:r>
            <a:r>
              <a:rPr lang="en-US" altLang="ko-KR" sz="800" dirty="0" err="1"/>
              <a:t>info_block.find</a:t>
            </a:r>
            <a:r>
              <a:rPr lang="en-US" altLang="ko-KR" sz="800" dirty="0"/>
              <a:t>("div", class_="</a:t>
            </a:r>
            <a:r>
              <a:rPr lang="en-US" altLang="ko-KR" sz="800" dirty="0" err="1"/>
              <a:t>movie_title</a:t>
            </a:r>
            <a:r>
              <a:rPr lang="en-US" altLang="ko-KR" sz="800" dirty="0"/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if </a:t>
            </a:r>
            <a:r>
              <a:rPr lang="en-US" altLang="ko-KR" sz="800" dirty="0" err="1"/>
              <a:t>title_block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paragraphs = </a:t>
            </a:r>
            <a:r>
              <a:rPr lang="en-US" altLang="ko-KR" sz="800" dirty="0" err="1"/>
              <a:t>title_block.find_all</a:t>
            </a:r>
            <a:r>
              <a:rPr lang="en-US" altLang="ko-KR" sz="800" dirty="0"/>
              <a:t>("p", recursive=False)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if paragraphs: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first = paragraphs[0]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</a:t>
            </a:r>
            <a:r>
              <a:rPr lang="en-US" altLang="ko-KR" sz="800" dirty="0" err="1"/>
              <a:t>title_ko</a:t>
            </a:r>
            <a:r>
              <a:rPr lang="en-US" altLang="ko-KR" sz="800" dirty="0"/>
              <a:t> = </a:t>
            </a:r>
            <a:r>
              <a:rPr lang="en-US" altLang="ko-KR" sz="800" dirty="0" err="1"/>
              <a:t>first.get_text</a:t>
            </a:r>
            <a:r>
              <a:rPr lang="en-US" altLang="ko-KR" sz="800" dirty="0"/>
              <a:t>(strip=True) if first else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for p in paragraphs: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classes = </a:t>
            </a:r>
            <a:r>
              <a:rPr lang="en-US" altLang="ko-KR" sz="800" dirty="0" err="1"/>
              <a:t>p.get</a:t>
            </a:r>
            <a:r>
              <a:rPr lang="en-US" altLang="ko-KR" sz="800" dirty="0"/>
              <a:t>("class") or []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if "</a:t>
            </a:r>
            <a:r>
              <a:rPr lang="en-US" altLang="ko-KR" sz="800" dirty="0" err="1"/>
              <a:t>eng</a:t>
            </a:r>
            <a:r>
              <a:rPr lang="en-US" altLang="ko-KR" sz="800" dirty="0"/>
              <a:t>" in classes: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txt = " ".join(</a:t>
            </a:r>
            <a:r>
              <a:rPr lang="en-US" altLang="ko-KR" sz="800" dirty="0" err="1"/>
              <a:t>p.stripped_strings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match = </a:t>
            </a:r>
            <a:r>
              <a:rPr lang="en-US" altLang="ko-KR" sz="800" dirty="0" err="1"/>
              <a:t>re.search</a:t>
            </a:r>
            <a:r>
              <a:rPr lang="en-US" altLang="ko-KR" sz="800" dirty="0"/>
              <a:t>(r"(.*)\((\d{4})\)", txt)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if match: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    </a:t>
            </a:r>
            <a:r>
              <a:rPr lang="en-US" altLang="ko-KR" sz="800" dirty="0" err="1"/>
              <a:t>title_en</a:t>
            </a:r>
            <a:r>
              <a:rPr lang="en-US" altLang="ko-KR" sz="800" dirty="0"/>
              <a:t> = </a:t>
            </a:r>
            <a:r>
              <a:rPr lang="en-US" altLang="ko-KR" sz="800" dirty="0" err="1"/>
              <a:t>match.group</a:t>
            </a:r>
            <a:r>
              <a:rPr lang="en-US" altLang="ko-KR" sz="800" dirty="0"/>
              <a:t>(1).strip()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    year = </a:t>
            </a:r>
            <a:r>
              <a:rPr lang="en-US" altLang="ko-KR" sz="800" dirty="0" err="1"/>
              <a:t>to_int</a:t>
            </a:r>
            <a:r>
              <a:rPr lang="en-US" altLang="ko-KR" sz="800" dirty="0"/>
              <a:t>(</a:t>
            </a:r>
            <a:r>
              <a:rPr lang="en-US" altLang="ko-KR" sz="800" dirty="0" err="1"/>
              <a:t>match.group</a:t>
            </a:r>
            <a:r>
              <a:rPr lang="en-US" altLang="ko-KR" sz="800" dirty="0"/>
              <a:t>(2))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else: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    </a:t>
            </a:r>
            <a:r>
              <a:rPr lang="en-US" altLang="ko-KR" sz="800" dirty="0" err="1"/>
              <a:t>title_en</a:t>
            </a:r>
            <a:r>
              <a:rPr lang="en-US" altLang="ko-KR" sz="800" dirty="0"/>
              <a:t> = txt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    break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open_date</a:t>
            </a:r>
            <a:r>
              <a:rPr lang="en-US" altLang="ko-KR" sz="800" dirty="0"/>
              <a:t> =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rating =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runtime_min</a:t>
            </a:r>
            <a:r>
              <a:rPr lang="en-US" altLang="ko-KR" sz="800" dirty="0"/>
              <a:t> =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audience_total</a:t>
            </a:r>
            <a:r>
              <a:rPr lang="en-US" altLang="ko-KR" sz="800" dirty="0"/>
              <a:t> =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genres =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country =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directors = []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cast = 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043"/>
            <a:ext cx="524123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Code-2]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Detailed Data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크롤링하기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102E2-986A-43DF-AA92-34E8B35721CB}"/>
              </a:ext>
            </a:extLst>
          </p:cNvPr>
          <p:cNvSpPr txBox="1"/>
          <p:nvPr/>
        </p:nvSpPr>
        <p:spPr>
          <a:xfrm>
            <a:off x="4953000" y="993036"/>
            <a:ext cx="3556758" cy="3766609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</a:t>
            </a:r>
            <a:r>
              <a:rPr lang="en-US" altLang="ko-KR" sz="800" dirty="0" err="1"/>
              <a:t>info_list</a:t>
            </a:r>
            <a:r>
              <a:rPr lang="en-US" altLang="ko-KR" sz="800" dirty="0"/>
              <a:t> = </a:t>
            </a:r>
            <a:r>
              <a:rPr lang="en-US" altLang="ko-KR" sz="800" dirty="0" err="1"/>
              <a:t>info_block.find</a:t>
            </a:r>
            <a:r>
              <a:rPr lang="en-US" altLang="ko-KR" sz="800" dirty="0"/>
              <a:t>("ul", class_="</a:t>
            </a:r>
            <a:r>
              <a:rPr lang="en-US" altLang="ko-KR" sz="800" dirty="0" err="1"/>
              <a:t>info_list</a:t>
            </a:r>
            <a:r>
              <a:rPr lang="en-US" altLang="ko-KR" sz="800" dirty="0"/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if </a:t>
            </a:r>
            <a:r>
              <a:rPr lang="en-US" altLang="ko-KR" sz="800" dirty="0" err="1"/>
              <a:t>info_list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li_list</a:t>
            </a:r>
            <a:r>
              <a:rPr lang="en-US" altLang="ko-KR" sz="800" dirty="0"/>
              <a:t> = </a:t>
            </a:r>
            <a:r>
              <a:rPr lang="en-US" altLang="ko-KR" sz="800" dirty="0" err="1"/>
              <a:t>info_list.find_all</a:t>
            </a:r>
            <a:r>
              <a:rPr lang="en-US" altLang="ko-KR" sz="800" dirty="0"/>
              <a:t>("li", recursive=False)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else: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li_list</a:t>
            </a:r>
            <a:r>
              <a:rPr lang="en-US" altLang="ko-KR" sz="800" dirty="0"/>
              <a:t> = </a:t>
            </a:r>
            <a:r>
              <a:rPr lang="en-US" altLang="ko-KR" sz="800" dirty="0" err="1"/>
              <a:t>info_block.find_all</a:t>
            </a:r>
            <a:r>
              <a:rPr lang="en-US" altLang="ko-KR" sz="800" dirty="0"/>
              <a:t>("li")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for li in </a:t>
            </a:r>
            <a:r>
              <a:rPr lang="en-US" altLang="ko-KR" sz="800" dirty="0" err="1"/>
              <a:t>li_list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label_tag</a:t>
            </a:r>
            <a:r>
              <a:rPr lang="en-US" altLang="ko-KR" sz="800" dirty="0"/>
              <a:t> = </a:t>
            </a:r>
            <a:r>
              <a:rPr lang="en-US" altLang="ko-KR" sz="800" dirty="0" err="1"/>
              <a:t>li.find</a:t>
            </a:r>
            <a:r>
              <a:rPr lang="en-US" altLang="ko-KR" sz="800" dirty="0"/>
              <a:t>("p", class_="title")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if not </a:t>
            </a:r>
            <a:r>
              <a:rPr lang="en-US" altLang="ko-KR" sz="800" dirty="0" err="1"/>
              <a:t>label_tag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continue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label = </a:t>
            </a:r>
            <a:r>
              <a:rPr lang="en-US" altLang="ko-KR" sz="800" dirty="0" err="1"/>
              <a:t>label_tag.get_text</a:t>
            </a:r>
            <a:r>
              <a:rPr lang="en-US" altLang="ko-KR" sz="800" dirty="0"/>
              <a:t>(strip=True)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parts = list(</a:t>
            </a:r>
            <a:r>
              <a:rPr lang="en-US" altLang="ko-KR" sz="800" dirty="0" err="1"/>
              <a:t>li.stripped_strings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if not parts: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continue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if parts[0] == label: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parts = parts[1:]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value_text</a:t>
            </a:r>
            <a:r>
              <a:rPr lang="en-US" altLang="ko-KR" sz="800" dirty="0"/>
              <a:t> = " ".join(parts).strip()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CEBA76-6E11-430E-B6E3-40934D29B525}"/>
              </a:ext>
            </a:extLst>
          </p:cNvPr>
          <p:cNvSpPr txBox="1"/>
          <p:nvPr/>
        </p:nvSpPr>
        <p:spPr>
          <a:xfrm>
            <a:off x="1447800" y="5842577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영화 제목 블록에서 한글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영문 제목 등 필요한 요소를 분리하여 각각의 컬럼으로 저장할 수 있도록 </a:t>
            </a:r>
            <a:r>
              <a:rPr lang="ko-KR" altLang="en-US" sz="1000" b="1" dirty="0" err="1"/>
              <a:t>전처리</a:t>
            </a:r>
            <a:r>
              <a:rPr lang="ko-KR" altLang="en-US" sz="1000" b="1" dirty="0"/>
              <a:t> 구조를 구성하였습니다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17640456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3945" y="54821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1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11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412" y="0"/>
            <a:ext cx="6490528" cy="568540"/>
          </a:xfr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043"/>
            <a:ext cx="524123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Code-2]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Detailed Data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크롤링하기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03BD06-C62E-49EC-864B-3773B3E5ED00}"/>
              </a:ext>
            </a:extLst>
          </p:cNvPr>
          <p:cNvSpPr txBox="1"/>
          <p:nvPr/>
        </p:nvSpPr>
        <p:spPr>
          <a:xfrm>
            <a:off x="533400" y="975431"/>
            <a:ext cx="8301544" cy="3748969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if label == "</a:t>
            </a:r>
            <a:r>
              <a:rPr lang="ko-KR" altLang="en-US" sz="800" dirty="0"/>
              <a:t>개봉</a:t>
            </a:r>
            <a:r>
              <a:rPr lang="en-US" altLang="ko-KR" sz="800" dirty="0"/>
              <a:t>" and not </a:t>
            </a:r>
            <a:r>
              <a:rPr lang="en-US" altLang="ko-KR" sz="800" dirty="0" err="1"/>
              <a:t>open_date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</a:t>
            </a:r>
            <a:r>
              <a:rPr lang="en-US" altLang="ko-KR" sz="800" dirty="0" err="1"/>
              <a:t>open_date</a:t>
            </a:r>
            <a:r>
              <a:rPr lang="en-US" altLang="ko-KR" sz="800" dirty="0"/>
              <a:t> = </a:t>
            </a:r>
            <a:r>
              <a:rPr lang="en-US" altLang="ko-KR" sz="800" dirty="0" err="1"/>
              <a:t>value_text</a:t>
            </a: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elif</a:t>
            </a:r>
            <a:r>
              <a:rPr lang="en-US" altLang="ko-KR" sz="800" dirty="0"/>
              <a:t> label == "</a:t>
            </a:r>
            <a:r>
              <a:rPr lang="ko-KR" altLang="en-US" sz="800" dirty="0"/>
              <a:t>등급</a:t>
            </a:r>
            <a:r>
              <a:rPr lang="en-US" altLang="ko-KR" sz="800" dirty="0"/>
              <a:t>":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rating = </a:t>
            </a:r>
            <a:r>
              <a:rPr lang="en-US" altLang="ko-KR" sz="800" dirty="0" err="1"/>
              <a:t>value_text</a:t>
            </a: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elif</a:t>
            </a:r>
            <a:r>
              <a:rPr lang="en-US" altLang="ko-KR" sz="800" dirty="0"/>
              <a:t> label == "</a:t>
            </a:r>
            <a:r>
              <a:rPr lang="ko-KR" altLang="en-US" sz="800" dirty="0"/>
              <a:t>시간</a:t>
            </a:r>
            <a:r>
              <a:rPr lang="en-US" altLang="ko-KR" sz="800" dirty="0"/>
              <a:t>":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</a:t>
            </a:r>
            <a:r>
              <a:rPr lang="en-US" altLang="ko-KR" sz="800" dirty="0" err="1"/>
              <a:t>runtime_min</a:t>
            </a:r>
            <a:r>
              <a:rPr lang="en-US" altLang="ko-KR" sz="800" dirty="0"/>
              <a:t> = </a:t>
            </a:r>
            <a:r>
              <a:rPr lang="en-US" altLang="ko-KR" sz="800" dirty="0" err="1"/>
              <a:t>to_int</a:t>
            </a:r>
            <a:r>
              <a:rPr lang="en-US" altLang="ko-KR" sz="800" dirty="0"/>
              <a:t>(</a:t>
            </a:r>
            <a:r>
              <a:rPr lang="en-US" altLang="ko-KR" sz="800" dirty="0" err="1"/>
              <a:t>value_text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elif</a:t>
            </a:r>
            <a:r>
              <a:rPr lang="en-US" altLang="ko-KR" sz="800" dirty="0"/>
              <a:t> label == "</a:t>
            </a:r>
            <a:r>
              <a:rPr lang="ko-KR" altLang="en-US" sz="800" dirty="0"/>
              <a:t>관객</a:t>
            </a:r>
            <a:r>
              <a:rPr lang="en-US" altLang="ko-KR" sz="800" dirty="0"/>
              <a:t>":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</a:t>
            </a:r>
            <a:r>
              <a:rPr lang="en-US" altLang="ko-KR" sz="800" dirty="0" err="1"/>
              <a:t>audience_total</a:t>
            </a:r>
            <a:r>
              <a:rPr lang="en-US" altLang="ko-KR" sz="800" dirty="0"/>
              <a:t> = </a:t>
            </a:r>
            <a:r>
              <a:rPr lang="en-US" altLang="ko-KR" sz="800" dirty="0" err="1"/>
              <a:t>to_int</a:t>
            </a:r>
            <a:r>
              <a:rPr lang="en-US" altLang="ko-KR" sz="800" dirty="0"/>
              <a:t>(</a:t>
            </a:r>
            <a:r>
              <a:rPr lang="en-US" altLang="ko-KR" sz="800" dirty="0" err="1"/>
              <a:t>value_text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elif</a:t>
            </a:r>
            <a:r>
              <a:rPr lang="en-US" altLang="ko-KR" sz="800" dirty="0"/>
              <a:t> label == "</a:t>
            </a:r>
            <a:r>
              <a:rPr lang="ko-KR" altLang="en-US" sz="800" dirty="0"/>
              <a:t>장르</a:t>
            </a:r>
            <a:r>
              <a:rPr lang="en-US" altLang="ko-KR" sz="800" dirty="0"/>
              <a:t>":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</a:t>
            </a:r>
            <a:r>
              <a:rPr lang="en-US" altLang="ko-KR" sz="800" dirty="0" err="1"/>
              <a:t>genre_parts</a:t>
            </a:r>
            <a:r>
              <a:rPr lang="en-US" altLang="ko-KR" sz="800" dirty="0"/>
              <a:t> = [</a:t>
            </a:r>
            <a:r>
              <a:rPr lang="en-US" altLang="ko-KR" sz="800" dirty="0" err="1"/>
              <a:t>p.strip</a:t>
            </a:r>
            <a:r>
              <a:rPr lang="en-US" altLang="ko-KR" sz="800" dirty="0"/>
              <a:t>() for p in </a:t>
            </a:r>
            <a:r>
              <a:rPr lang="en-US" altLang="ko-KR" sz="800" dirty="0" err="1"/>
              <a:t>re.split</a:t>
            </a:r>
            <a:r>
              <a:rPr lang="en-US" altLang="ko-KR" sz="800" dirty="0"/>
              <a:t>(r"[,/]", </a:t>
            </a:r>
            <a:r>
              <a:rPr lang="en-US" altLang="ko-KR" sz="800" dirty="0" err="1"/>
              <a:t>value_text</a:t>
            </a:r>
            <a:r>
              <a:rPr lang="en-US" altLang="ko-KR" sz="800" dirty="0"/>
              <a:t>) if </a:t>
            </a:r>
            <a:r>
              <a:rPr lang="en-US" altLang="ko-KR" sz="800" dirty="0" err="1"/>
              <a:t>p.strip</a:t>
            </a:r>
            <a:r>
              <a:rPr lang="en-US" altLang="ko-KR" sz="800" dirty="0"/>
              <a:t>()]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genres = </a:t>
            </a:r>
            <a:r>
              <a:rPr lang="en-US" altLang="ko-KR" sz="800" dirty="0" err="1"/>
              <a:t>genre_parts</a:t>
            </a: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elif</a:t>
            </a:r>
            <a:r>
              <a:rPr lang="en-US" altLang="ko-KR" sz="800" dirty="0"/>
              <a:t> label == "</a:t>
            </a:r>
            <a:r>
              <a:rPr lang="ko-KR" altLang="en-US" sz="800" dirty="0"/>
              <a:t>국가</a:t>
            </a:r>
            <a:r>
              <a:rPr lang="en-US" altLang="ko-KR" sz="800" dirty="0"/>
              <a:t>":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country = </a:t>
            </a:r>
            <a:r>
              <a:rPr lang="en-US" altLang="ko-KR" sz="800" dirty="0" err="1"/>
              <a:t>value_text</a:t>
            </a: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elif</a:t>
            </a:r>
            <a:r>
              <a:rPr lang="en-US" altLang="ko-KR" sz="800" dirty="0"/>
              <a:t> label == "</a:t>
            </a:r>
            <a:r>
              <a:rPr lang="ko-KR" altLang="en-US" sz="800" dirty="0"/>
              <a:t>감독</a:t>
            </a:r>
            <a:r>
              <a:rPr lang="en-US" altLang="ko-KR" sz="800" dirty="0"/>
              <a:t>":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directors = [</a:t>
            </a:r>
            <a:r>
              <a:rPr lang="en-US" altLang="ko-KR" sz="800" dirty="0" err="1"/>
              <a:t>a.get_text</a:t>
            </a:r>
            <a:r>
              <a:rPr lang="en-US" altLang="ko-KR" sz="800" dirty="0"/>
              <a:t>(strip=True) for a in </a:t>
            </a:r>
            <a:r>
              <a:rPr lang="en-US" altLang="ko-KR" sz="800" dirty="0" err="1"/>
              <a:t>li.find_all</a:t>
            </a:r>
            <a:r>
              <a:rPr lang="en-US" altLang="ko-KR" sz="800" dirty="0"/>
              <a:t>("a")]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</a:t>
            </a:r>
            <a:r>
              <a:rPr lang="en-US" altLang="ko-KR" sz="800" dirty="0" err="1"/>
              <a:t>elif</a:t>
            </a:r>
            <a:r>
              <a:rPr lang="en-US" altLang="ko-KR" sz="800" dirty="0"/>
              <a:t> label == "</a:t>
            </a:r>
            <a:r>
              <a:rPr lang="ko-KR" altLang="en-US" sz="800" dirty="0"/>
              <a:t>출연</a:t>
            </a:r>
            <a:r>
              <a:rPr lang="en-US" altLang="ko-KR" sz="800" dirty="0"/>
              <a:t>":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cast = [</a:t>
            </a:r>
            <a:r>
              <a:rPr lang="en-US" altLang="ko-KR" sz="800" dirty="0" err="1"/>
              <a:t>a.get_text</a:t>
            </a:r>
            <a:r>
              <a:rPr lang="en-US" altLang="ko-KR" sz="800" dirty="0"/>
              <a:t>(strip=True) for a in </a:t>
            </a:r>
            <a:r>
              <a:rPr lang="en-US" altLang="ko-KR" sz="800" dirty="0" err="1"/>
              <a:t>li.find_all</a:t>
            </a:r>
            <a:r>
              <a:rPr lang="en-US" altLang="ko-KR" sz="800" dirty="0"/>
              <a:t>("a")]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cine21_score = None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netizen_score</a:t>
            </a:r>
            <a:r>
              <a:rPr lang="en-US" altLang="ko-KR" sz="800" dirty="0"/>
              <a:t> = None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67133-94F6-483C-AC7F-EF3032966CA1}"/>
              </a:ext>
            </a:extLst>
          </p:cNvPr>
          <p:cNvSpPr txBox="1"/>
          <p:nvPr/>
        </p:nvSpPr>
        <p:spPr>
          <a:xfrm>
            <a:off x="4491544" y="1036730"/>
            <a:ext cx="4343400" cy="5059270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 err="1"/>
              <a:t>text_all</a:t>
            </a:r>
            <a:r>
              <a:rPr lang="en-US" altLang="ko-KR" sz="800" dirty="0"/>
              <a:t> = </a:t>
            </a:r>
            <a:r>
              <a:rPr lang="en-US" altLang="ko-KR" sz="800" dirty="0" err="1"/>
              <a:t>soup.get_text</a:t>
            </a:r>
            <a:r>
              <a:rPr lang="en-US" altLang="ko-KR" sz="800" dirty="0"/>
              <a:t>(" ", strip=True)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m1 = </a:t>
            </a:r>
            <a:r>
              <a:rPr lang="en-US" altLang="ko-KR" sz="800" dirty="0" err="1"/>
              <a:t>re.search</a:t>
            </a:r>
            <a:r>
              <a:rPr lang="en-US" altLang="ko-KR" sz="800" dirty="0"/>
              <a:t>(r"</a:t>
            </a:r>
            <a:r>
              <a:rPr lang="ko-KR" altLang="en-US" sz="800" dirty="0" err="1"/>
              <a:t>씨네</a:t>
            </a:r>
            <a:r>
              <a:rPr lang="en-US" altLang="ko-KR" sz="800" dirty="0"/>
              <a:t>21 </a:t>
            </a:r>
            <a:r>
              <a:rPr lang="ko-KR" altLang="en-US" sz="800" dirty="0"/>
              <a:t>전문가 </a:t>
            </a:r>
            <a:r>
              <a:rPr lang="ko-KR" altLang="en-US" sz="800" dirty="0" err="1"/>
              <a:t>별점</a:t>
            </a:r>
            <a:r>
              <a:rPr lang="en-US" altLang="ko-KR" sz="800" dirty="0"/>
              <a:t>\s*([0-9]+(?:\.[0-9]+)?)", </a:t>
            </a:r>
            <a:r>
              <a:rPr lang="en-US" altLang="ko-KR" sz="800" dirty="0" err="1"/>
              <a:t>text_all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if m1: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cine21_score = </a:t>
            </a:r>
            <a:r>
              <a:rPr lang="en-US" altLang="ko-KR" sz="800" dirty="0" err="1"/>
              <a:t>to_float</a:t>
            </a:r>
            <a:r>
              <a:rPr lang="en-US" altLang="ko-KR" sz="800" dirty="0"/>
              <a:t>(m1.group(1))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m2 = </a:t>
            </a:r>
            <a:r>
              <a:rPr lang="en-US" altLang="ko-KR" sz="800" dirty="0" err="1"/>
              <a:t>re.search</a:t>
            </a:r>
            <a:r>
              <a:rPr lang="en-US" altLang="ko-KR" sz="800" dirty="0"/>
              <a:t>(r"</a:t>
            </a:r>
            <a:r>
              <a:rPr lang="ko-KR" altLang="en-US" sz="800" dirty="0"/>
              <a:t>관객 </a:t>
            </a:r>
            <a:r>
              <a:rPr lang="ko-KR" altLang="en-US" sz="800" dirty="0" err="1"/>
              <a:t>별점</a:t>
            </a:r>
            <a:r>
              <a:rPr lang="en-US" altLang="ko-KR" sz="800" dirty="0"/>
              <a:t>\s*([0-9]+(?:\.[0-9]+)?)", </a:t>
            </a:r>
            <a:r>
              <a:rPr lang="en-US" altLang="ko-KR" sz="800" dirty="0" err="1"/>
              <a:t>text_all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if m2: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netizen_score</a:t>
            </a:r>
            <a:r>
              <a:rPr lang="en-US" altLang="ko-KR" sz="800" dirty="0"/>
              <a:t> = </a:t>
            </a:r>
            <a:r>
              <a:rPr lang="en-US" altLang="ko-KR" sz="800" dirty="0" err="1"/>
              <a:t>to_float</a:t>
            </a:r>
            <a:r>
              <a:rPr lang="en-US" altLang="ko-KR" sz="800" dirty="0"/>
              <a:t>(m2.group(1))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return {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</a:t>
            </a:r>
            <a:r>
              <a:rPr lang="en-US" altLang="ko-KR" sz="800" dirty="0" err="1"/>
              <a:t>title_ko</a:t>
            </a:r>
            <a:r>
              <a:rPr lang="en-US" altLang="ko-KR" sz="800" dirty="0"/>
              <a:t>": </a:t>
            </a:r>
            <a:r>
              <a:rPr lang="en-US" altLang="ko-KR" sz="800" dirty="0" err="1"/>
              <a:t>title_ko</a:t>
            </a:r>
            <a:r>
              <a:rPr lang="en-US" altLang="ko-KR" sz="800" dirty="0"/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</a:t>
            </a:r>
            <a:r>
              <a:rPr lang="en-US" altLang="ko-KR" sz="800" dirty="0" err="1"/>
              <a:t>title_en</a:t>
            </a:r>
            <a:r>
              <a:rPr lang="en-US" altLang="ko-KR" sz="800" dirty="0"/>
              <a:t>": </a:t>
            </a:r>
            <a:r>
              <a:rPr lang="en-US" altLang="ko-KR" sz="800" dirty="0" err="1"/>
              <a:t>title_en</a:t>
            </a:r>
            <a:r>
              <a:rPr lang="en-US" altLang="ko-KR" sz="800" dirty="0"/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"year": year,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</a:t>
            </a:r>
            <a:r>
              <a:rPr lang="en-US" altLang="ko-KR" sz="800" dirty="0" err="1"/>
              <a:t>open_date_detail</a:t>
            </a:r>
            <a:r>
              <a:rPr lang="en-US" altLang="ko-KR" sz="800" dirty="0"/>
              <a:t>": </a:t>
            </a:r>
            <a:r>
              <a:rPr lang="en-US" altLang="ko-KR" sz="800" dirty="0" err="1"/>
              <a:t>open_date</a:t>
            </a:r>
            <a:r>
              <a:rPr lang="en-US" altLang="ko-KR" sz="800" dirty="0"/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"rating": rating,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</a:t>
            </a:r>
            <a:r>
              <a:rPr lang="en-US" altLang="ko-KR" sz="800" dirty="0" err="1"/>
              <a:t>runtime_min</a:t>
            </a:r>
            <a:r>
              <a:rPr lang="en-US" altLang="ko-KR" sz="800" dirty="0"/>
              <a:t>": </a:t>
            </a:r>
            <a:r>
              <a:rPr lang="en-US" altLang="ko-KR" sz="800" dirty="0" err="1"/>
              <a:t>runtime_min</a:t>
            </a:r>
            <a:r>
              <a:rPr lang="en-US" altLang="ko-KR" sz="800" dirty="0"/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</a:t>
            </a:r>
            <a:r>
              <a:rPr lang="en-US" altLang="ko-KR" sz="800" dirty="0" err="1"/>
              <a:t>audience_total</a:t>
            </a:r>
            <a:r>
              <a:rPr lang="en-US" altLang="ko-KR" sz="800" dirty="0"/>
              <a:t>": </a:t>
            </a:r>
            <a:r>
              <a:rPr lang="en-US" altLang="ko-KR" sz="800" dirty="0" err="1"/>
              <a:t>audience_total</a:t>
            </a:r>
            <a:r>
              <a:rPr lang="en-US" altLang="ko-KR" sz="800" dirty="0"/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"genres": ", ".join(genres) if genres else None,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"country": country,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"directors": ", ".join(directors) if directors else None,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</a:t>
            </a:r>
            <a:r>
              <a:rPr lang="en-US" altLang="ko-KR" sz="800" dirty="0" err="1"/>
              <a:t>num_directors</a:t>
            </a:r>
            <a:r>
              <a:rPr lang="en-US" altLang="ko-KR" sz="800" dirty="0"/>
              <a:t>": </a:t>
            </a:r>
            <a:r>
              <a:rPr lang="en-US" altLang="ko-KR" sz="800" dirty="0" err="1"/>
              <a:t>len</a:t>
            </a:r>
            <a:r>
              <a:rPr lang="en-US" altLang="ko-KR" sz="800" dirty="0"/>
              <a:t>(directors),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</a:t>
            </a:r>
            <a:r>
              <a:rPr lang="en-US" altLang="ko-KR" sz="800" dirty="0" err="1"/>
              <a:t>cast_main</a:t>
            </a:r>
            <a:r>
              <a:rPr lang="en-US" altLang="ko-KR" sz="800" dirty="0"/>
              <a:t>": ", ".join(cast) if cast else None,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</a:t>
            </a:r>
            <a:r>
              <a:rPr lang="en-US" altLang="ko-KR" sz="800" dirty="0" err="1"/>
              <a:t>num_cast_main</a:t>
            </a:r>
            <a:r>
              <a:rPr lang="en-US" altLang="ko-KR" sz="800" dirty="0"/>
              <a:t>": </a:t>
            </a:r>
            <a:r>
              <a:rPr lang="en-US" altLang="ko-KR" sz="800" dirty="0" err="1"/>
              <a:t>len</a:t>
            </a:r>
            <a:r>
              <a:rPr lang="en-US" altLang="ko-KR" sz="800" dirty="0"/>
              <a:t>(cast),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"cine21_score_detail": cine21_score,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"</a:t>
            </a:r>
            <a:r>
              <a:rPr lang="en-US" altLang="ko-KR" sz="800" dirty="0" err="1"/>
              <a:t>netizen_score</a:t>
            </a:r>
            <a:r>
              <a:rPr lang="en-US" altLang="ko-KR" sz="800" dirty="0"/>
              <a:t>": </a:t>
            </a:r>
            <a:r>
              <a:rPr lang="en-US" altLang="ko-KR" sz="800" dirty="0" err="1"/>
              <a:t>netizen_score</a:t>
            </a:r>
            <a:r>
              <a:rPr lang="en-US" altLang="ko-KR" sz="800" dirty="0"/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697A8-B60A-446A-8137-050CD29FFBB9}"/>
              </a:ext>
            </a:extLst>
          </p:cNvPr>
          <p:cNvSpPr txBox="1"/>
          <p:nvPr/>
        </p:nvSpPr>
        <p:spPr>
          <a:xfrm>
            <a:off x="1066800" y="6109967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장르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국가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감독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배우 등 상세 정보를 라벨별로 인식해 알맞은 변수에 매핑하는 상세 데이터 </a:t>
            </a:r>
            <a:r>
              <a:rPr lang="ko-KR" altLang="en-US" sz="1000" b="1" dirty="0" err="1"/>
              <a:t>크롤링의</a:t>
            </a:r>
            <a:r>
              <a:rPr lang="ko-KR" altLang="en-US" sz="1000" b="1" dirty="0"/>
              <a:t> 핵심 코드입니다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93346577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3945" y="52281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1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12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412" y="0"/>
            <a:ext cx="6490528" cy="568540"/>
          </a:xfr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004" y="993036"/>
            <a:ext cx="7985396" cy="3951274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fetch_movie_info</a:t>
            </a:r>
            <a:r>
              <a:rPr lang="en-US" altLang="ko-KR" sz="800" dirty="0"/>
              <a:t>(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, delay=REQUEST_DELAY):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html = </a:t>
            </a:r>
            <a:r>
              <a:rPr lang="en-US" altLang="ko-KR" sz="800" dirty="0" err="1"/>
              <a:t>fetch_html</a:t>
            </a:r>
            <a:r>
              <a:rPr lang="en-US" altLang="ko-KR" sz="800" dirty="0"/>
              <a:t>(BASE_INFO_URL, params={"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": 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})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data = </a:t>
            </a:r>
            <a:r>
              <a:rPr lang="en-US" altLang="ko-KR" sz="800" dirty="0" err="1"/>
              <a:t>parse_movie_info_html</a:t>
            </a:r>
            <a:r>
              <a:rPr lang="en-US" altLang="ko-KR" sz="800" dirty="0"/>
              <a:t>(html)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data["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"] = </a:t>
            </a:r>
            <a:r>
              <a:rPr lang="en-US" altLang="ko-KR" sz="800" dirty="0" err="1"/>
              <a:t>movie_id</a:t>
            </a: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time.sleep</a:t>
            </a:r>
            <a:r>
              <a:rPr lang="en-US" altLang="ko-KR" sz="800" dirty="0"/>
              <a:t>(delay)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return data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def </a:t>
            </a:r>
            <a:r>
              <a:rPr lang="en-US" altLang="ko-KR" sz="800" dirty="0" err="1"/>
              <a:t>crawl_detailed_data</a:t>
            </a:r>
            <a:r>
              <a:rPr lang="en-US" altLang="ko-KR" sz="800" dirty="0"/>
              <a:t>(</a:t>
            </a:r>
            <a:r>
              <a:rPr lang="en-US" altLang="ko-KR" sz="800" dirty="0" err="1"/>
              <a:t>movie_ids</a:t>
            </a:r>
            <a:r>
              <a:rPr lang="en-US" altLang="ko-KR" sz="800" dirty="0"/>
              <a:t>, delay=REQUEST_DELAY):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details = []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total = </a:t>
            </a:r>
            <a:r>
              <a:rPr lang="en-US" altLang="ko-KR" sz="800" dirty="0" err="1"/>
              <a:t>len</a:t>
            </a:r>
            <a:r>
              <a:rPr lang="en-US" altLang="ko-KR" sz="800" dirty="0"/>
              <a:t>(</a:t>
            </a:r>
            <a:r>
              <a:rPr lang="en-US" altLang="ko-KR" sz="800" dirty="0" err="1"/>
              <a:t>movie_ids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for </a:t>
            </a:r>
            <a:r>
              <a:rPr lang="en-US" altLang="ko-KR" sz="800" dirty="0" err="1"/>
              <a:t>i</a:t>
            </a:r>
            <a:r>
              <a:rPr lang="en-US" altLang="ko-KR" sz="800" dirty="0"/>
              <a:t>, 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 in enumerate(</a:t>
            </a:r>
            <a:r>
              <a:rPr lang="en-US" altLang="ko-KR" sz="800" dirty="0" err="1"/>
              <a:t>movie_ids</a:t>
            </a:r>
            <a:r>
              <a:rPr lang="en-US" altLang="ko-KR" sz="800" dirty="0"/>
              <a:t>, start=1):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print(f"[{</a:t>
            </a:r>
            <a:r>
              <a:rPr lang="en-US" altLang="ko-KR" sz="800" dirty="0" err="1"/>
              <a:t>i</a:t>
            </a:r>
            <a:r>
              <a:rPr lang="en-US" altLang="ko-KR" sz="800" dirty="0"/>
              <a:t>}/{total}] 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={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} </a:t>
            </a:r>
            <a:r>
              <a:rPr lang="ko-KR" altLang="en-US" sz="800" dirty="0" err="1"/>
              <a:t>크롤링</a:t>
            </a:r>
            <a:r>
              <a:rPr lang="ko-KR" altLang="en-US" sz="800" dirty="0"/>
              <a:t> 중</a:t>
            </a:r>
            <a:r>
              <a:rPr lang="en-US" altLang="ko-KR" sz="800" dirty="0"/>
              <a:t>...")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try: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detail = </a:t>
            </a:r>
            <a:r>
              <a:rPr lang="en-US" altLang="ko-KR" sz="800" dirty="0" err="1"/>
              <a:t>fetch_movie_info</a:t>
            </a:r>
            <a:r>
              <a:rPr lang="en-US" altLang="ko-KR" sz="800" dirty="0"/>
              <a:t>(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, delay=delay)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</a:t>
            </a:r>
            <a:r>
              <a:rPr lang="en-US" altLang="ko-KR" sz="800" dirty="0" err="1"/>
              <a:t>details.append</a:t>
            </a:r>
            <a:r>
              <a:rPr lang="en-US" altLang="ko-KR" sz="800" dirty="0"/>
              <a:t>(detail)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except Exception as </a:t>
            </a:r>
            <a:r>
              <a:rPr lang="en-US" altLang="ko-KR" sz="800" dirty="0" err="1"/>
              <a:t>exc</a:t>
            </a:r>
            <a:r>
              <a:rPr lang="en-US" altLang="ko-KR" sz="800" dirty="0"/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    print("detail error", 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, </a:t>
            </a:r>
            <a:r>
              <a:rPr lang="en-US" altLang="ko-KR" sz="800" dirty="0" err="1"/>
              <a:t>exc</a:t>
            </a: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if not details: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    return </a:t>
            </a:r>
            <a:r>
              <a:rPr lang="en-US" altLang="ko-KR" sz="800" dirty="0" err="1"/>
              <a:t>pd.DataFrame</a:t>
            </a:r>
            <a:r>
              <a:rPr lang="en-US" altLang="ko-KR" sz="800" dirty="0"/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return </a:t>
            </a:r>
            <a:r>
              <a:rPr lang="en-US" altLang="ko-KR" sz="800" dirty="0" err="1"/>
              <a:t>pd.DataFrame</a:t>
            </a:r>
            <a:r>
              <a:rPr lang="en-US" altLang="ko-KR" sz="800" dirty="0"/>
              <a:t>(details)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043"/>
            <a:ext cx="524123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Code-2]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Detailed Data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크롤링하기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96F85-CCF8-4F12-AF10-6A193EF668E4}"/>
              </a:ext>
            </a:extLst>
          </p:cNvPr>
          <p:cNvSpPr txBox="1"/>
          <p:nvPr/>
        </p:nvSpPr>
        <p:spPr>
          <a:xfrm>
            <a:off x="5395283" y="990600"/>
            <a:ext cx="3139117" cy="1919949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800" dirty="0" err="1"/>
              <a:t>movie_ids</a:t>
            </a:r>
            <a:r>
              <a:rPr lang="en-US" altLang="ko-KR" sz="800" dirty="0"/>
              <a:t> = (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</a:t>
            </a:r>
            <a:r>
              <a:rPr lang="en-US" altLang="ko-KR" sz="800" dirty="0" err="1"/>
              <a:t>overview_df</a:t>
            </a:r>
            <a:r>
              <a:rPr lang="en-US" altLang="ko-KR" sz="800" dirty="0"/>
              <a:t>["</a:t>
            </a:r>
            <a:r>
              <a:rPr lang="en-US" altLang="ko-KR" sz="800" dirty="0" err="1"/>
              <a:t>movie_id</a:t>
            </a:r>
            <a:r>
              <a:rPr lang="en-US" altLang="ko-KR" sz="800" dirty="0"/>
              <a:t>"]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.</a:t>
            </a:r>
            <a:r>
              <a:rPr lang="en-US" altLang="ko-KR" sz="800" dirty="0" err="1"/>
              <a:t>dropna</a:t>
            </a:r>
            <a:r>
              <a:rPr lang="en-US" altLang="ko-KR" sz="800" dirty="0"/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.</a:t>
            </a:r>
            <a:r>
              <a:rPr lang="en-US" altLang="ko-KR" sz="800" dirty="0" err="1"/>
              <a:t>astype</a:t>
            </a:r>
            <a:r>
              <a:rPr lang="en-US" altLang="ko-KR" sz="800" dirty="0"/>
              <a:t>(int)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.</a:t>
            </a:r>
            <a:r>
              <a:rPr lang="en-US" altLang="ko-KR" sz="800" dirty="0" err="1"/>
              <a:t>drop_duplicates</a:t>
            </a:r>
            <a:r>
              <a:rPr lang="en-US" altLang="ko-KR" sz="800" dirty="0"/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    .</a:t>
            </a:r>
            <a:r>
              <a:rPr lang="en-US" altLang="ko-KR" sz="800" dirty="0" err="1"/>
              <a:t>tolist</a:t>
            </a:r>
            <a:r>
              <a:rPr lang="en-US" altLang="ko-KR" sz="800" dirty="0"/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/>
              <a:t>)</a:t>
            </a:r>
          </a:p>
          <a:p>
            <a:pPr>
              <a:lnSpc>
                <a:spcPct val="150000"/>
              </a:lnSpc>
              <a:defRPr/>
            </a:pPr>
            <a:endParaRPr lang="en-US" altLang="ko-KR" sz="800" dirty="0"/>
          </a:p>
          <a:p>
            <a:pPr>
              <a:lnSpc>
                <a:spcPct val="150000"/>
              </a:lnSpc>
              <a:defRPr/>
            </a:pPr>
            <a:r>
              <a:rPr lang="en-US" altLang="ko-KR" sz="800" dirty="0" err="1"/>
              <a:t>detail_df</a:t>
            </a:r>
            <a:r>
              <a:rPr lang="en-US" altLang="ko-KR" sz="800" dirty="0"/>
              <a:t> = </a:t>
            </a:r>
            <a:r>
              <a:rPr lang="en-US" altLang="ko-KR" sz="800" dirty="0" err="1"/>
              <a:t>crawl_detailed_data</a:t>
            </a:r>
            <a:r>
              <a:rPr lang="en-US" altLang="ko-KR" sz="800" dirty="0"/>
              <a:t>(</a:t>
            </a:r>
            <a:r>
              <a:rPr lang="en-US" altLang="ko-KR" sz="800" dirty="0" err="1"/>
              <a:t>movie_ids</a:t>
            </a:r>
            <a:r>
              <a:rPr lang="en-US" altLang="ko-KR" sz="800" dirty="0"/>
              <a:t>, delay=REQUEST_DELAY)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800" dirty="0" err="1"/>
              <a:t>detail_df.head</a:t>
            </a:r>
            <a:r>
              <a:rPr lang="en-US" altLang="ko-KR" sz="800" dirty="0"/>
              <a:t>()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F10F98-19DB-458E-BA63-F0FB694DE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944310"/>
            <a:ext cx="8382000" cy="13695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105891-F6E7-415E-AF87-4339A69151DF}"/>
              </a:ext>
            </a:extLst>
          </p:cNvPr>
          <p:cNvSpPr txBox="1"/>
          <p:nvPr/>
        </p:nvSpPr>
        <p:spPr>
          <a:xfrm>
            <a:off x="2438399" y="4511879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각 </a:t>
            </a:r>
            <a:r>
              <a:rPr lang="en-US" altLang="ko-KR" sz="1000" b="1" dirty="0" err="1"/>
              <a:t>movie_id</a:t>
            </a:r>
            <a:r>
              <a:rPr lang="ko-KR" altLang="en-US" sz="1000" b="1" dirty="0"/>
              <a:t>에 대해 상세 정보를 반복 수집하고 예외를 처리하며 전체 영화 상세 데이터 리스트를 완성하였습니다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84547173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3945" y="52281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1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13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3412" y="0"/>
            <a:ext cx="6490528" cy="568540"/>
          </a:xfr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004" y="993036"/>
            <a:ext cx="7985396" cy="1674754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400" dirty="0"/>
              <a:t>import pandas as pd</a:t>
            </a:r>
          </a:p>
          <a:p>
            <a:pPr>
              <a:lnSpc>
                <a:spcPct val="150000"/>
              </a:lnSpc>
              <a:defRPr/>
            </a:pPr>
            <a:endParaRPr lang="en-US" altLang="ko-KR" sz="1400" dirty="0"/>
          </a:p>
          <a:p>
            <a:pPr>
              <a:lnSpc>
                <a:spcPct val="150000"/>
              </a:lnSpc>
              <a:defRPr/>
            </a:pPr>
            <a:r>
              <a:rPr lang="en-US" altLang="ko-KR" sz="1400" dirty="0" err="1"/>
              <a:t>total_df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overview_df.merge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detail_df</a:t>
            </a:r>
            <a:r>
              <a:rPr lang="en-US" altLang="ko-KR" sz="1400" dirty="0"/>
              <a:t>, on="</a:t>
            </a:r>
            <a:r>
              <a:rPr lang="en-US" altLang="ko-KR" sz="1400" dirty="0" err="1"/>
              <a:t>movie_id</a:t>
            </a:r>
            <a:r>
              <a:rPr lang="en-US" altLang="ko-KR" sz="1400" dirty="0"/>
              <a:t>", how="left")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400" dirty="0" err="1"/>
              <a:t>total_df.to_csv</a:t>
            </a:r>
            <a:r>
              <a:rPr lang="en-US" altLang="ko-KR" sz="1400" dirty="0"/>
              <a:t>("hms_movies.csv", index=False, encoding="utf-8-sig")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400" dirty="0" err="1"/>
              <a:t>total_df.head</a:t>
            </a:r>
            <a:r>
              <a:rPr lang="en-US" altLang="ko-KR" sz="1400" dirty="0"/>
              <a:t>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043"/>
            <a:ext cx="524123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Code-3]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데이터 병합하기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A427C2-73A3-47EC-8E01-ACD6F944C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04" y="2728338"/>
            <a:ext cx="8610600" cy="16352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4AEB78-5B23-4296-8E44-5FA7073A927E}"/>
              </a:ext>
            </a:extLst>
          </p:cNvPr>
          <p:cNvSpPr txBox="1"/>
          <p:nvPr/>
        </p:nvSpPr>
        <p:spPr>
          <a:xfrm>
            <a:off x="1339848" y="5293393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목록 데이터와 상세 데이터를 </a:t>
            </a:r>
            <a:r>
              <a:rPr lang="en-US" altLang="ko-KR" sz="1000" b="1" dirty="0" err="1"/>
              <a:t>movie_id</a:t>
            </a:r>
            <a:r>
              <a:rPr lang="ko-KR" altLang="en-US" sz="1000" b="1" dirty="0"/>
              <a:t>로 병합하여 최종 영화 데이터프레임을 생성하고 </a:t>
            </a:r>
            <a:r>
              <a:rPr lang="en-US" altLang="ko-KR" sz="1000" b="1" dirty="0"/>
              <a:t>CSV </a:t>
            </a:r>
            <a:r>
              <a:rPr lang="ko-KR" altLang="en-US" sz="1000" b="1" dirty="0"/>
              <a:t>파일로 저장하였습니다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29657105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986F-6F83-103E-6F91-C034E25D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E6B2854-4C83-CCB2-3270-A9F7ED602CD1}"/>
              </a:ext>
            </a:extLst>
          </p:cNvPr>
          <p:cNvSpPr/>
          <p:nvPr/>
        </p:nvSpPr>
        <p:spPr>
          <a:xfrm>
            <a:off x="263943" y="548928"/>
            <a:ext cx="9378111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2" dirty="0"/>
          </a:p>
        </p:txBody>
      </p:sp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EEEE9269-20AB-9EE8-6DA4-0E2E2E63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248400"/>
            <a:ext cx="1155700" cy="243417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14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9D5847-F249-0CF8-5412-A7BA2F63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04" y="-76828"/>
            <a:ext cx="6493508" cy="762000"/>
          </a:xfrm>
          <a:noFill/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23FCB-7B5A-48B9-0F83-8CC3D70378F7}"/>
              </a:ext>
            </a:extLst>
          </p:cNvPr>
          <p:cNvSpPr txBox="1"/>
          <p:nvPr/>
        </p:nvSpPr>
        <p:spPr>
          <a:xfrm>
            <a:off x="685800" y="3124200"/>
            <a:ext cx="7772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이 데이터는 최근 영화 정보를 기반으로 한 데이터셋으로</a:t>
            </a:r>
            <a:r>
              <a:rPr lang="en-US" altLang="ko-KR" sz="1800" dirty="0"/>
              <a:t>, </a:t>
            </a:r>
            <a:r>
              <a:rPr lang="ko-KR" altLang="en-US" sz="1800" dirty="0"/>
              <a:t>총 </a:t>
            </a:r>
            <a:r>
              <a:rPr lang="en-US" altLang="ko-KR" sz="1800" dirty="0"/>
              <a:t>132</a:t>
            </a:r>
            <a:r>
              <a:rPr lang="ko-KR" altLang="en-US" sz="1800" dirty="0"/>
              <a:t>개의 샘플과 </a:t>
            </a:r>
            <a:r>
              <a:rPr lang="en-US" altLang="ko-KR" sz="1800" dirty="0"/>
              <a:t>18</a:t>
            </a:r>
            <a:r>
              <a:rPr lang="ko-KR" altLang="en-US" sz="1800" dirty="0"/>
              <a:t>개의 컬럼으로 이루어져 있습니다</a:t>
            </a:r>
            <a:r>
              <a:rPr lang="en-US" altLang="ko-KR" sz="1800" dirty="0"/>
              <a:t>. </a:t>
            </a:r>
          </a:p>
          <a:p>
            <a:r>
              <a:rPr lang="ko-KR" altLang="en-US" sz="1800" dirty="0"/>
              <a:t>각 행은 한 편의 영화를 나타내며 </a:t>
            </a:r>
            <a:r>
              <a:rPr lang="en-US" altLang="ko-KR" sz="1800" dirty="0" err="1"/>
              <a:t>movie_id</a:t>
            </a:r>
            <a:r>
              <a:rPr lang="en-US" altLang="ko-KR" sz="1800" dirty="0"/>
              <a:t>, </a:t>
            </a:r>
            <a:r>
              <a:rPr lang="ko-KR" altLang="en-US" sz="1800" dirty="0"/>
              <a:t>영화 제목</a:t>
            </a:r>
            <a:r>
              <a:rPr lang="en-US" altLang="ko-KR" sz="1800" dirty="0"/>
              <a:t>, </a:t>
            </a:r>
            <a:r>
              <a:rPr lang="ko-KR" altLang="en-US" sz="1800" dirty="0"/>
              <a:t>개봉연도와 개봉일</a:t>
            </a:r>
            <a:r>
              <a:rPr lang="en-US" altLang="ko-KR" sz="1800" dirty="0"/>
              <a:t>, </a:t>
            </a:r>
            <a:r>
              <a:rPr lang="ko-KR" altLang="en-US" sz="1800" dirty="0"/>
              <a:t>관람등급</a:t>
            </a:r>
            <a:r>
              <a:rPr lang="en-US" altLang="ko-KR" sz="1800" dirty="0"/>
              <a:t>, </a:t>
            </a:r>
            <a:r>
              <a:rPr lang="ko-KR" altLang="en-US" sz="1800" dirty="0"/>
              <a:t>상영시간</a:t>
            </a:r>
            <a:r>
              <a:rPr lang="en-US" altLang="ko-KR" sz="1800" dirty="0"/>
              <a:t>, </a:t>
            </a:r>
            <a:r>
              <a:rPr lang="ko-KR" altLang="en-US" sz="1800" dirty="0"/>
              <a:t>누적 관객 수</a:t>
            </a:r>
            <a:r>
              <a:rPr lang="en-US" altLang="ko-KR" sz="1800" dirty="0"/>
              <a:t>, </a:t>
            </a:r>
            <a:r>
              <a:rPr lang="ko-KR" altLang="en-US" sz="1800" dirty="0"/>
              <a:t>장르</a:t>
            </a:r>
            <a:r>
              <a:rPr lang="en-US" altLang="ko-KR" sz="1800" dirty="0"/>
              <a:t>, </a:t>
            </a:r>
            <a:r>
              <a:rPr lang="ko-KR" altLang="en-US" sz="1800" dirty="0"/>
              <a:t>제작국가</a:t>
            </a:r>
            <a:r>
              <a:rPr lang="en-US" altLang="ko-KR" sz="1800" dirty="0"/>
              <a:t>, </a:t>
            </a:r>
            <a:r>
              <a:rPr lang="ko-KR" altLang="en-US" sz="1800" dirty="0"/>
              <a:t>감독과 주요 출연진 정보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씨네</a:t>
            </a:r>
            <a:r>
              <a:rPr lang="en-US" altLang="ko-KR" sz="1800" dirty="0"/>
              <a:t>21 </a:t>
            </a:r>
            <a:r>
              <a:rPr lang="ko-KR" altLang="en-US" sz="1800" dirty="0"/>
              <a:t>평점과 네티즌 평점 등의 정보를 담고 있습니다</a:t>
            </a:r>
            <a:r>
              <a:rPr lang="en-US" altLang="ko-KR" sz="1800" dirty="0"/>
              <a:t>. </a:t>
            </a:r>
          </a:p>
          <a:p>
            <a:r>
              <a:rPr lang="ko-KR" altLang="en-US" sz="1800" dirty="0"/>
              <a:t>정수형과 실수형</a:t>
            </a:r>
            <a:r>
              <a:rPr lang="en-US" altLang="ko-KR" sz="1800" dirty="0"/>
              <a:t>, </a:t>
            </a:r>
            <a:r>
              <a:rPr lang="ko-KR" altLang="en-US" sz="1800" dirty="0"/>
              <a:t>문자형 데이터가 함께 포함되어 있어 장르별 관객수 비교</a:t>
            </a:r>
            <a:r>
              <a:rPr lang="en-US" altLang="ko-KR" sz="1800" dirty="0"/>
              <a:t>, </a:t>
            </a:r>
            <a:r>
              <a:rPr lang="ko-KR" altLang="en-US" sz="1800" dirty="0"/>
              <a:t>평점과 흥행 성적의 상관관계 분석</a:t>
            </a:r>
            <a:r>
              <a:rPr lang="en-US" altLang="ko-KR" sz="1800" dirty="0"/>
              <a:t>, </a:t>
            </a:r>
            <a:r>
              <a:rPr lang="ko-KR" altLang="en-US" sz="1800" dirty="0"/>
              <a:t>흥행 영화 예측 모델 구축 등 다양한 영화 데이터 분석에 활용할 수 있습니다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72F85EC0-6BB4-BF70-0248-1E2FB7E62667}"/>
              </a:ext>
            </a:extLst>
          </p:cNvPr>
          <p:cNvSpPr/>
          <p:nvPr/>
        </p:nvSpPr>
        <p:spPr>
          <a:xfrm>
            <a:off x="7287112" y="1371600"/>
            <a:ext cx="1323232" cy="1405024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소개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0434D7-692E-46FC-BD2B-41E4EED7D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52" y="990600"/>
            <a:ext cx="1162212" cy="26673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7853E08-006B-488A-B2E8-9332D45F3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6324600" cy="115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7238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15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/>
              <a:t>3. </a:t>
            </a:r>
            <a:r>
              <a:rPr lang="ko-KR" altLang="en-US"/>
              <a:t>데이터 정제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2" y="1008732"/>
            <a:ext cx="4972028" cy="3300134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pandas as pd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df_raw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pd.read_csv</a:t>
            </a:r>
            <a:r>
              <a:rPr lang="en-US" altLang="ko-KR" sz="1000" b="0" dirty="0">
                <a:effectLst/>
              </a:rPr>
              <a:t>("hms_movies.csv")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df_raw.copy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df_na.drop</a:t>
            </a:r>
            <a:r>
              <a:rPr lang="en-US" altLang="ko-KR" sz="1000" b="0" dirty="0">
                <a:effectLst/>
              </a:rPr>
              <a:t>(columns=["</a:t>
            </a:r>
            <a:r>
              <a:rPr lang="en-US" altLang="ko-KR" sz="1000" b="0" dirty="0" err="1">
                <a:effectLst/>
              </a:rPr>
              <a:t>title_en</a:t>
            </a:r>
            <a:r>
              <a:rPr lang="en-US" altLang="ko-KR" sz="1000" b="0" dirty="0">
                <a:effectLst/>
              </a:rPr>
              <a:t>"])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["rating"]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["rating"].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["country"]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["country"].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["directors"]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["directors"].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cast_main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cast_main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"].median())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"].median())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7639980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Code-4]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</a:t>
            </a:r>
            <a:r>
              <a:rPr lang="ko-KR" altLang="en-US" sz="1400" b="1" dirty="0" err="1">
                <a:solidFill>
                  <a:srgbClr val="F79646">
                    <a:lumMod val="50000"/>
                  </a:srgbClr>
                </a:solidFill>
                <a:latin typeface="+mn-ea"/>
              </a:rPr>
              <a:t>결측값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 처리하기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762389-8C42-4BEE-BB5F-B633EC0EC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00" y="4948940"/>
            <a:ext cx="8620725" cy="1520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B5D824-0B91-4690-A72D-1301C97573FC}"/>
              </a:ext>
            </a:extLst>
          </p:cNvPr>
          <p:cNvSpPr txBox="1"/>
          <p:nvPr/>
        </p:nvSpPr>
        <p:spPr>
          <a:xfrm>
            <a:off x="3637095" y="1020123"/>
            <a:ext cx="5968340" cy="1915140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["cine21_score_detail"]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["cine21_score_detail"].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["cine21_score_detail"].mean())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"].mean())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</a:t>
            </a:r>
            <a:r>
              <a:rPr lang="en-US" altLang="ko-KR" sz="1000" b="0" dirty="0" err="1">
                <a:effectLst/>
              </a:rPr>
              <a:t>df_raw.isna</a:t>
            </a:r>
            <a:r>
              <a:rPr lang="en-US" altLang="ko-KR" sz="1000" b="0" dirty="0">
                <a:effectLst/>
              </a:rPr>
              <a:t>().sum())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</a:t>
            </a:r>
            <a:r>
              <a:rPr lang="en-US" altLang="ko-KR" sz="1000" b="0" dirty="0" err="1">
                <a:effectLst/>
              </a:rPr>
              <a:t>df_na.isna</a:t>
            </a:r>
            <a:r>
              <a:rPr lang="en-US" altLang="ko-KR" sz="1000" b="0" dirty="0">
                <a:effectLst/>
              </a:rPr>
              <a:t>().sum())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df_na.head</a:t>
            </a:r>
            <a:r>
              <a:rPr lang="en-US" altLang="ko-KR" sz="1000" b="0" dirty="0">
                <a:effectLst/>
              </a:rPr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6A0FE-7AE0-44A6-9953-409DFEBF6A66}"/>
              </a:ext>
            </a:extLst>
          </p:cNvPr>
          <p:cNvSpPr txBox="1"/>
          <p:nvPr/>
        </p:nvSpPr>
        <p:spPr>
          <a:xfrm>
            <a:off x="5562600" y="3543988"/>
            <a:ext cx="45108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/>
              <a:t>title_en</a:t>
            </a:r>
            <a:r>
              <a:rPr lang="ko-KR" altLang="en-US" sz="1000" dirty="0"/>
              <a:t>은 전부 </a:t>
            </a:r>
            <a:r>
              <a:rPr lang="en-US" altLang="ko-KR" sz="1000" dirty="0" err="1"/>
              <a:t>NaN</a:t>
            </a:r>
            <a:r>
              <a:rPr lang="en-US" altLang="ko-KR" sz="1000" dirty="0"/>
              <a:t> → </a:t>
            </a:r>
            <a:r>
              <a:rPr lang="ko-KR" altLang="en-US" sz="1000" dirty="0"/>
              <a:t>아예 컬럼 삭제</a:t>
            </a:r>
          </a:p>
          <a:p>
            <a:endParaRPr lang="ko-KR" altLang="en-US" sz="1000" dirty="0"/>
          </a:p>
          <a:p>
            <a:r>
              <a:rPr lang="en-US" altLang="ko-KR" sz="1000" dirty="0"/>
              <a:t>rating, country, directors, </a:t>
            </a:r>
            <a:r>
              <a:rPr lang="en-US" altLang="ko-KR" sz="1000" dirty="0" err="1"/>
              <a:t>cast_main</a:t>
            </a:r>
            <a:r>
              <a:rPr lang="en-US" altLang="ko-KR" sz="1000" dirty="0"/>
              <a:t> → </a:t>
            </a:r>
            <a:r>
              <a:rPr lang="ko-KR" altLang="en-US" sz="1000" dirty="0"/>
              <a:t>문자열이라 “</a:t>
            </a:r>
            <a:r>
              <a:rPr lang="ko-KR" altLang="en-US" sz="1000" dirty="0" err="1"/>
              <a:t>정보없음”으로</a:t>
            </a:r>
            <a:r>
              <a:rPr lang="ko-KR" altLang="en-US" sz="1000" dirty="0"/>
              <a:t> 채움</a:t>
            </a:r>
          </a:p>
          <a:p>
            <a:endParaRPr lang="ko-KR" altLang="en-US" sz="1000" dirty="0"/>
          </a:p>
          <a:p>
            <a:r>
              <a:rPr lang="en-US" altLang="ko-KR" sz="1000" dirty="0" err="1"/>
              <a:t>runtime_min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audience_total</a:t>
            </a:r>
            <a:r>
              <a:rPr lang="en-US" altLang="ko-KR" sz="1000" dirty="0"/>
              <a:t> → </a:t>
            </a:r>
            <a:r>
              <a:rPr lang="ko-KR" altLang="en-US" sz="1000" dirty="0"/>
              <a:t>숫자라 중앙값</a:t>
            </a:r>
            <a:r>
              <a:rPr lang="en-US" altLang="ko-KR" sz="1000" dirty="0"/>
              <a:t>(median) </a:t>
            </a:r>
            <a:r>
              <a:rPr lang="ko-KR" altLang="en-US" sz="1000" dirty="0"/>
              <a:t>으로 채움</a:t>
            </a:r>
          </a:p>
          <a:p>
            <a:endParaRPr lang="ko-KR" altLang="en-US" sz="1000" dirty="0"/>
          </a:p>
          <a:p>
            <a:r>
              <a:rPr lang="en-US" altLang="ko-KR" sz="1000" dirty="0"/>
              <a:t>cine21_score_detail, </a:t>
            </a:r>
            <a:r>
              <a:rPr lang="en-US" altLang="ko-KR" sz="1000" dirty="0" err="1"/>
              <a:t>netizen_score</a:t>
            </a:r>
            <a:r>
              <a:rPr lang="en-US" altLang="ko-KR" sz="1000" dirty="0"/>
              <a:t> → </a:t>
            </a:r>
            <a:r>
              <a:rPr lang="ko-KR" altLang="en-US" sz="1000" dirty="0"/>
              <a:t>숫자라 평균</a:t>
            </a:r>
            <a:r>
              <a:rPr lang="en-US" altLang="ko-KR" sz="1000" dirty="0"/>
              <a:t>(mean) </a:t>
            </a:r>
            <a:r>
              <a:rPr lang="ko-KR" altLang="en-US" sz="1000" dirty="0"/>
              <a:t>으로 채움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CFF62-068E-43F5-BEB1-5C93A634C23B}"/>
              </a:ext>
            </a:extLst>
          </p:cNvPr>
          <p:cNvSpPr txBox="1"/>
          <p:nvPr/>
        </p:nvSpPr>
        <p:spPr>
          <a:xfrm>
            <a:off x="1219199" y="4733972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 err="1"/>
              <a:t>결측값은</a:t>
            </a:r>
            <a:r>
              <a:rPr lang="ko-KR" altLang="en-US" sz="1000" b="1" dirty="0"/>
              <a:t> 범주형은 ‘</a:t>
            </a:r>
            <a:r>
              <a:rPr lang="ko-KR" altLang="en-US" sz="1000" b="1" dirty="0" err="1"/>
              <a:t>정보없음</a:t>
            </a:r>
            <a:r>
              <a:rPr lang="ko-KR" altLang="en-US" sz="1000" b="1" dirty="0"/>
              <a:t>’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수치형은 평균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중앙값으로 대체하여 이후 분석에 문제가 없도록 기본 품질을 확보하였습니다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7238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16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3. </a:t>
            </a:r>
            <a:r>
              <a:rPr lang="ko-KR" altLang="en-US" dirty="0"/>
              <a:t>데이터 정제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5640389" cy="4915961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pandas as pd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pd.read_csv</a:t>
            </a:r>
            <a:r>
              <a:rPr lang="en-US" altLang="ko-KR" sz="1000" b="0" dirty="0">
                <a:effectLst/>
              </a:rPr>
              <a:t>("hms_movies.csv")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df_na.drop</a:t>
            </a:r>
            <a:r>
              <a:rPr lang="en-US" altLang="ko-KR" sz="1000" b="0" dirty="0">
                <a:effectLst/>
              </a:rPr>
              <a:t>(columns=["</a:t>
            </a:r>
            <a:r>
              <a:rPr lang="en-US" altLang="ko-KR" sz="1000" b="0" dirty="0" err="1">
                <a:effectLst/>
              </a:rPr>
              <a:t>title_en</a:t>
            </a:r>
            <a:r>
              <a:rPr lang="en-US" altLang="ko-KR" sz="1000" b="0" dirty="0">
                <a:effectLst/>
              </a:rPr>
              <a:t>"])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["rating"]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["rating"].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["country"]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["country"].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["directors"]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["directors"].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cast_main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cast_main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"].median())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"].median())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["cine21_score_detail"]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["cine21_score_detail"].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["cine21_score_detail"].mean())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"].mean())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def </a:t>
            </a:r>
            <a:r>
              <a:rPr lang="en-US" altLang="ko-KR" sz="1000" b="0" dirty="0" err="1">
                <a:effectLst/>
              </a:rPr>
              <a:t>clip_outliers</a:t>
            </a:r>
            <a:r>
              <a:rPr lang="en-US" altLang="ko-KR" sz="1000" b="0" dirty="0">
                <a:effectLst/>
              </a:rPr>
              <a:t>(s):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q1 = </a:t>
            </a:r>
            <a:r>
              <a:rPr lang="en-US" altLang="ko-KR" sz="1000" b="0" dirty="0" err="1">
                <a:effectLst/>
              </a:rPr>
              <a:t>s.quantile</a:t>
            </a:r>
            <a:r>
              <a:rPr lang="en-US" altLang="ko-KR" sz="1000" b="0" dirty="0">
                <a:effectLst/>
              </a:rPr>
              <a:t>(0.25)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q3 = </a:t>
            </a:r>
            <a:r>
              <a:rPr lang="en-US" altLang="ko-KR" sz="1000" b="0" dirty="0" err="1">
                <a:effectLst/>
              </a:rPr>
              <a:t>s.quantile</a:t>
            </a:r>
            <a:r>
              <a:rPr lang="en-US" altLang="ko-KR" sz="1000" b="0" dirty="0">
                <a:effectLst/>
              </a:rPr>
              <a:t>(0.75)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</a:t>
            </a:r>
            <a:r>
              <a:rPr lang="en-US" altLang="ko-KR" sz="1000" b="0" dirty="0" err="1">
                <a:effectLst/>
              </a:rPr>
              <a:t>iqr</a:t>
            </a:r>
            <a:r>
              <a:rPr lang="en-US" altLang="ko-KR" sz="1000" b="0" dirty="0">
                <a:effectLst/>
              </a:rPr>
              <a:t> = q3 - q1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low = q1 - 1.5 * </a:t>
            </a:r>
            <a:r>
              <a:rPr lang="en-US" altLang="ko-KR" sz="1000" b="0" dirty="0" err="1">
                <a:effectLst/>
              </a:rPr>
              <a:t>iqr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high = q3 + 1.5 * </a:t>
            </a:r>
            <a:r>
              <a:rPr lang="en-US" altLang="ko-KR" sz="1000" b="0" dirty="0" err="1">
                <a:effectLst/>
              </a:rPr>
              <a:t>iqr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return </a:t>
            </a:r>
            <a:r>
              <a:rPr lang="en-US" altLang="ko-KR" sz="1000" b="0" dirty="0" err="1">
                <a:effectLst/>
              </a:rPr>
              <a:t>s.clip</a:t>
            </a:r>
            <a:r>
              <a:rPr lang="en-US" altLang="ko-KR" sz="1000" b="0" dirty="0">
                <a:effectLst/>
              </a:rPr>
              <a:t>(lower=low, upper=high)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7639980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Code-5]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이상치 처리하기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5D824-0B91-4690-A72D-1301C97573FC}"/>
              </a:ext>
            </a:extLst>
          </p:cNvPr>
          <p:cNvSpPr txBox="1"/>
          <p:nvPr/>
        </p:nvSpPr>
        <p:spPr>
          <a:xfrm>
            <a:off x="5486400" y="1020123"/>
            <a:ext cx="4119034" cy="2376805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df_na.copy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for col in 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", 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", "cine21_score_detail", 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[col] = </a:t>
            </a:r>
            <a:r>
              <a:rPr lang="en-US" altLang="ko-KR" sz="1000" b="0" dirty="0" err="1">
                <a:effectLst/>
              </a:rPr>
              <a:t>clip_outliers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[col])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</a:t>
            </a:r>
            <a:r>
              <a:rPr lang="en-US" altLang="ko-KR" sz="1000" b="0" dirty="0" err="1">
                <a:effectLst/>
              </a:rPr>
              <a:t>df_na</a:t>
            </a:r>
            <a:r>
              <a:rPr lang="en-US" altLang="ko-KR" sz="1000" b="0" dirty="0">
                <a:effectLst/>
              </a:rPr>
              <a:t>[["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", 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"]].describe())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", 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"]].describe())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df_out.head</a:t>
            </a:r>
            <a:r>
              <a:rPr lang="en-US" altLang="ko-KR" sz="1000" b="0" dirty="0">
                <a:effectLst/>
              </a:rPr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6A0FE-7AE0-44A6-9953-409DFEBF6A66}"/>
              </a:ext>
            </a:extLst>
          </p:cNvPr>
          <p:cNvSpPr txBox="1"/>
          <p:nvPr/>
        </p:nvSpPr>
        <p:spPr>
          <a:xfrm>
            <a:off x="5552358" y="3571725"/>
            <a:ext cx="45108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/>
              <a:t>runtime_min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audience_total</a:t>
            </a:r>
            <a:r>
              <a:rPr lang="en-US" altLang="ko-KR" sz="1000" dirty="0"/>
              <a:t>, cine21_score_detail, </a:t>
            </a:r>
            <a:r>
              <a:rPr lang="en-US" altLang="ko-KR" sz="1000" dirty="0" err="1"/>
              <a:t>netizen_score</a:t>
            </a:r>
            <a:r>
              <a:rPr lang="ko-KR" altLang="en-US" sz="1000" dirty="0"/>
              <a:t> 컬럼은 숫자이기도 하고 스케일이 커서 이상치 가능성이 있음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IQR(3</a:t>
            </a:r>
            <a:r>
              <a:rPr lang="ko-KR" altLang="en-US" sz="1000" dirty="0"/>
              <a:t>사분위수−</a:t>
            </a:r>
            <a:r>
              <a:rPr lang="en-US" altLang="ko-KR" sz="1000" dirty="0"/>
              <a:t>1</a:t>
            </a:r>
            <a:r>
              <a:rPr lang="ko-KR" altLang="en-US" sz="1000" dirty="0"/>
              <a:t>사분위수</a:t>
            </a:r>
            <a:r>
              <a:rPr lang="en-US" altLang="ko-KR" sz="1000" dirty="0"/>
              <a:t>) </a:t>
            </a:r>
            <a:r>
              <a:rPr lang="ko-KR" altLang="en-US" sz="1000" dirty="0"/>
              <a:t>기준으로</a:t>
            </a:r>
          </a:p>
          <a:p>
            <a:r>
              <a:rPr lang="ko-KR" altLang="en-US" sz="1000" dirty="0"/>
              <a:t>하한</a:t>
            </a:r>
            <a:r>
              <a:rPr lang="en-US" altLang="ko-KR" sz="1000" dirty="0"/>
              <a:t>: Q1 − 1.5×IQR</a:t>
            </a:r>
          </a:p>
          <a:p>
            <a:r>
              <a:rPr lang="ko-KR" altLang="en-US" sz="1000" dirty="0"/>
              <a:t>상한</a:t>
            </a:r>
            <a:r>
              <a:rPr lang="en-US" altLang="ko-KR" sz="1000" dirty="0"/>
              <a:t>: Q3 + 1.5×IQR</a:t>
            </a:r>
          </a:p>
          <a:p>
            <a:r>
              <a:rPr lang="ko-KR" altLang="en-US" sz="1000" dirty="0"/>
              <a:t>범위를 벗어나면 하한</a:t>
            </a:r>
            <a:r>
              <a:rPr lang="en-US" altLang="ko-KR" sz="1000" dirty="0"/>
              <a:t>/</a:t>
            </a:r>
            <a:r>
              <a:rPr lang="ko-KR" altLang="en-US" sz="1000" dirty="0"/>
              <a:t>상한으로 잘라서 </a:t>
            </a:r>
            <a:r>
              <a:rPr lang="ko-KR" altLang="en-US" sz="1000" dirty="0" err="1"/>
              <a:t>클리핑</a:t>
            </a:r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66235CF-FAD0-402C-933D-90411BC63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5029200"/>
            <a:ext cx="6927068" cy="12028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C24F49-FE77-48DD-9D87-D4C6215996B6}"/>
              </a:ext>
            </a:extLst>
          </p:cNvPr>
          <p:cNvSpPr txBox="1"/>
          <p:nvPr/>
        </p:nvSpPr>
        <p:spPr>
          <a:xfrm>
            <a:off x="1902772" y="4774781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 b="1" dirty="0"/>
              <a:t>IQR </a:t>
            </a:r>
            <a:r>
              <a:rPr lang="ko-KR" altLang="en-US" sz="1000" b="1" dirty="0"/>
              <a:t>기준으로 이상치를 </a:t>
            </a:r>
            <a:r>
              <a:rPr lang="ko-KR" altLang="en-US" sz="1000" b="1" dirty="0" err="1"/>
              <a:t>클리핑하여</a:t>
            </a:r>
            <a:r>
              <a:rPr lang="ko-KR" altLang="en-US" sz="1000" b="1" dirty="0"/>
              <a:t> </a:t>
            </a:r>
            <a:r>
              <a:rPr lang="ko-KR" altLang="en-US" sz="1000" b="1" dirty="0" err="1"/>
              <a:t>극단값의</a:t>
            </a:r>
            <a:r>
              <a:rPr lang="ko-KR" altLang="en-US" sz="1000" b="1" dirty="0"/>
              <a:t> 영향을 줄이고 보다 안정적인 통계 분석이 가능하도록 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15110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7238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17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3. </a:t>
            </a:r>
            <a:r>
              <a:rPr lang="ko-KR" altLang="en-US" dirty="0"/>
              <a:t>데이터 정제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5716589" cy="2838469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pandas as pd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pd.read_csv</a:t>
            </a:r>
            <a:r>
              <a:rPr lang="en-US" altLang="ko-KR" sz="1000" b="0" dirty="0">
                <a:effectLst/>
              </a:rPr>
              <a:t>("hms_movies.csv")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df_out.drop</a:t>
            </a:r>
            <a:r>
              <a:rPr lang="en-US" altLang="ko-KR" sz="1000" b="0" dirty="0">
                <a:effectLst/>
              </a:rPr>
              <a:t>(columns=["</a:t>
            </a:r>
            <a:r>
              <a:rPr lang="en-US" altLang="ko-KR" sz="1000" b="0" dirty="0" err="1">
                <a:effectLst/>
              </a:rPr>
              <a:t>title_en</a:t>
            </a:r>
            <a:r>
              <a:rPr lang="en-US" altLang="ko-KR" sz="1000" b="0" dirty="0">
                <a:effectLst/>
              </a:rPr>
              <a:t>"])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["rating"] = 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["rating"].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["country"] = 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["country"].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["directors"] = 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["directors"].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cast_main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cast_main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 err="1">
                <a:effectLst/>
              </a:rPr>
              <a:t>정보없음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"].median())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"].median())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["cine21_score_detail"] = 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["cine21_score_detail"].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["cine21_score_detail"].mean())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"].</a:t>
            </a:r>
            <a:r>
              <a:rPr lang="en-US" altLang="ko-KR" sz="1000" b="0" dirty="0" err="1">
                <a:effectLst/>
              </a:rPr>
              <a:t>fillna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"].mean())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7639980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Code-6]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중복 데이터 제거하기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5D824-0B91-4690-A72D-1301C97573FC}"/>
              </a:ext>
            </a:extLst>
          </p:cNvPr>
          <p:cNvSpPr txBox="1"/>
          <p:nvPr/>
        </p:nvSpPr>
        <p:spPr>
          <a:xfrm>
            <a:off x="3881829" y="1007463"/>
            <a:ext cx="4119034" cy="1684307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</a:t>
            </a:r>
            <a:r>
              <a:rPr lang="ko-KR" altLang="en-US" sz="1000" b="0" dirty="0">
                <a:effectLst/>
              </a:rPr>
              <a:t>중복 제거 전 행 개수</a:t>
            </a:r>
            <a:r>
              <a:rPr lang="en-US" altLang="ko-KR" sz="1000" b="0" dirty="0">
                <a:effectLst/>
              </a:rPr>
              <a:t>:", </a:t>
            </a:r>
            <a:r>
              <a:rPr lang="en-US" altLang="ko-KR" sz="1000" b="0" dirty="0" err="1">
                <a:effectLst/>
              </a:rPr>
              <a:t>len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df_out</a:t>
            </a:r>
            <a:r>
              <a:rPr lang="en-US" altLang="ko-KR" sz="1000" b="0" dirty="0">
                <a:effectLst/>
              </a:rPr>
              <a:t>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df_final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df_out.drop_duplicates</a:t>
            </a:r>
            <a:r>
              <a:rPr lang="en-US" altLang="ko-KR" sz="1000" b="0" dirty="0">
                <a:effectLst/>
              </a:rPr>
              <a:t>(subset=["</a:t>
            </a:r>
            <a:r>
              <a:rPr lang="en-US" altLang="ko-KR" sz="1000" b="0" dirty="0" err="1">
                <a:effectLst/>
              </a:rPr>
              <a:t>movie_id</a:t>
            </a:r>
            <a:r>
              <a:rPr lang="en-US" altLang="ko-KR" sz="1000" b="0" dirty="0">
                <a:effectLst/>
              </a:rPr>
              <a:t>"]).</a:t>
            </a:r>
            <a:r>
              <a:rPr lang="en-US" altLang="ko-KR" sz="1000" b="0" dirty="0" err="1">
                <a:effectLst/>
              </a:rPr>
              <a:t>reset_index</a:t>
            </a:r>
            <a:r>
              <a:rPr lang="en-US" altLang="ko-KR" sz="1000" b="0" dirty="0">
                <a:effectLst/>
              </a:rPr>
              <a:t>(drop=True)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</a:t>
            </a:r>
            <a:r>
              <a:rPr lang="ko-KR" altLang="en-US" sz="1000" b="0" dirty="0">
                <a:effectLst/>
              </a:rPr>
              <a:t>중복 제거 후 행 개수</a:t>
            </a:r>
            <a:r>
              <a:rPr lang="en-US" altLang="ko-KR" sz="1000" b="0" dirty="0">
                <a:effectLst/>
              </a:rPr>
              <a:t>:", </a:t>
            </a:r>
            <a:r>
              <a:rPr lang="en-US" altLang="ko-KR" sz="1000" b="0" dirty="0" err="1">
                <a:effectLst/>
              </a:rPr>
              <a:t>len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df_final</a:t>
            </a:r>
            <a:r>
              <a:rPr lang="en-US" altLang="ko-KR" sz="1000" b="0" dirty="0">
                <a:effectLst/>
              </a:rPr>
              <a:t>))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df_final.to_csv</a:t>
            </a:r>
            <a:r>
              <a:rPr lang="en-US" altLang="ko-KR" sz="1000" b="0" dirty="0">
                <a:effectLst/>
              </a:rPr>
              <a:t>("hms_movies_clean.csv", index=False, encoding="utf-8-sig")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df_final.head</a:t>
            </a:r>
            <a:r>
              <a:rPr lang="en-US" altLang="ko-KR" sz="1000" b="0" dirty="0">
                <a:effectLst/>
              </a:rPr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6A0FE-7AE0-44A6-9953-409DFEBF6A66}"/>
              </a:ext>
            </a:extLst>
          </p:cNvPr>
          <p:cNvSpPr txBox="1"/>
          <p:nvPr/>
        </p:nvSpPr>
        <p:spPr>
          <a:xfrm>
            <a:off x="5562963" y="2737114"/>
            <a:ext cx="45108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논리적으로는 </a:t>
            </a:r>
            <a:r>
              <a:rPr lang="en-US" altLang="ko-KR" sz="1000" dirty="0" err="1"/>
              <a:t>movie_id</a:t>
            </a:r>
            <a:r>
              <a:rPr lang="ko-KR" altLang="en-US" sz="1000" dirty="0"/>
              <a:t>가 같은 행은 중복으로 간주</a:t>
            </a:r>
          </a:p>
          <a:p>
            <a:endParaRPr lang="ko-KR" altLang="en-US" sz="1000" dirty="0"/>
          </a:p>
          <a:p>
            <a:r>
              <a:rPr lang="ko-KR" altLang="en-US" sz="1000" dirty="0"/>
              <a:t>지금 데이터는 실제로 중복이 존재하지 않음 따라서 값은 그대로임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D37600-F3AA-48C3-A07D-6791B1BA2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1" y="4491888"/>
            <a:ext cx="8939730" cy="18104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73C3C8-D74B-4E04-9AAD-95D83409F2C5}"/>
              </a:ext>
            </a:extLst>
          </p:cNvPr>
          <p:cNvSpPr txBox="1"/>
          <p:nvPr/>
        </p:nvSpPr>
        <p:spPr>
          <a:xfrm>
            <a:off x="1219199" y="4165590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 b="1" dirty="0" err="1"/>
              <a:t>movie_id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기준으로 중복 행을 제거하여 동일 영화가 두 번 이상 포함되지 않도록 데이터의 일관성을 유지하였습니다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75627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7238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18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3. </a:t>
            </a:r>
            <a:r>
              <a:rPr lang="ko-KR" altLang="en-US" dirty="0"/>
              <a:t>데이터 정제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5716589" cy="2376805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pandas as pd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from </a:t>
            </a:r>
            <a:r>
              <a:rPr lang="en-US" altLang="ko-KR" sz="1000" b="0" dirty="0" err="1">
                <a:effectLst/>
              </a:rPr>
              <a:t>sklearn.preprocessing</a:t>
            </a:r>
            <a:r>
              <a:rPr lang="en-US" altLang="ko-KR" sz="1000" b="0" dirty="0">
                <a:effectLst/>
              </a:rPr>
              <a:t> import </a:t>
            </a:r>
            <a:r>
              <a:rPr lang="en-US" altLang="ko-KR" sz="1000" b="0" dirty="0" err="1">
                <a:effectLst/>
              </a:rPr>
              <a:t>MinMaxScaler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df_clean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pd.read_csv</a:t>
            </a:r>
            <a:r>
              <a:rPr lang="en-US" altLang="ko-KR" sz="1000" b="0" dirty="0">
                <a:effectLst/>
              </a:rPr>
              <a:t>("hms_movies_clean.csv")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num_cols</a:t>
            </a:r>
            <a:r>
              <a:rPr lang="en-US" altLang="ko-KR" sz="1000" b="0" dirty="0">
                <a:effectLst/>
              </a:rPr>
              <a:t> = 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", 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", "cine21_score_detail", 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scaler = </a:t>
            </a:r>
            <a:r>
              <a:rPr lang="en-US" altLang="ko-KR" sz="1000" b="0" dirty="0" err="1">
                <a:effectLst/>
              </a:rPr>
              <a:t>MinMaxScaler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df_clean.copy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[</a:t>
            </a:r>
            <a:r>
              <a:rPr lang="en-US" altLang="ko-KR" sz="1000" b="0" dirty="0" err="1">
                <a:effectLst/>
              </a:rPr>
              <a:t>num_cols</a:t>
            </a:r>
            <a:r>
              <a:rPr lang="en-US" altLang="ko-KR" sz="1000" b="0" dirty="0">
                <a:effectLst/>
              </a:rPr>
              <a:t>] = </a:t>
            </a:r>
            <a:r>
              <a:rPr lang="en-US" altLang="ko-KR" sz="1000" b="0" dirty="0" err="1">
                <a:effectLst/>
              </a:rPr>
              <a:t>scaler.fit_transform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[</a:t>
            </a:r>
            <a:r>
              <a:rPr lang="en-US" altLang="ko-KR" sz="1000" b="0" dirty="0" err="1">
                <a:effectLst/>
              </a:rPr>
              <a:t>num_cols</a:t>
            </a:r>
            <a:r>
              <a:rPr lang="en-US" altLang="ko-KR" sz="1000" b="0" dirty="0">
                <a:effectLst/>
              </a:rPr>
              <a:t>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7639980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Code-7]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정규화 하기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5D824-0B91-4690-A72D-1301C97573FC}"/>
              </a:ext>
            </a:extLst>
          </p:cNvPr>
          <p:cNvSpPr txBox="1"/>
          <p:nvPr/>
        </p:nvSpPr>
        <p:spPr>
          <a:xfrm>
            <a:off x="5140488" y="1014490"/>
            <a:ext cx="4119034" cy="1684307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</a:t>
            </a:r>
            <a:r>
              <a:rPr lang="en-US" altLang="ko-KR" sz="1000" b="0" dirty="0" err="1">
                <a:effectLst/>
              </a:rPr>
              <a:t>df_clean</a:t>
            </a:r>
            <a:r>
              <a:rPr lang="en-US" altLang="ko-KR" sz="1000" b="0" dirty="0">
                <a:effectLst/>
              </a:rPr>
              <a:t>[</a:t>
            </a:r>
            <a:r>
              <a:rPr lang="en-US" altLang="ko-KR" sz="1000" b="0" dirty="0" err="1">
                <a:effectLst/>
              </a:rPr>
              <a:t>num_cols</a:t>
            </a:r>
            <a:r>
              <a:rPr lang="en-US" altLang="ko-KR" sz="1000" b="0" dirty="0">
                <a:effectLst/>
              </a:rPr>
              <a:t>].describe())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</a:t>
            </a: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[</a:t>
            </a:r>
            <a:r>
              <a:rPr lang="en-US" altLang="ko-KR" sz="1000" b="0" dirty="0" err="1">
                <a:effectLst/>
              </a:rPr>
              <a:t>num_cols</a:t>
            </a:r>
            <a:r>
              <a:rPr lang="en-US" altLang="ko-KR" sz="1000" b="0" dirty="0">
                <a:effectLst/>
              </a:rPr>
              <a:t>].describe())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df_scaled.to_csv</a:t>
            </a:r>
            <a:r>
              <a:rPr lang="en-US" altLang="ko-KR" sz="1000" b="0" dirty="0">
                <a:effectLst/>
              </a:rPr>
              <a:t>("hms_movies_scaled.csv", index=False, encoding="utf-8-sig")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df_scaled.head</a:t>
            </a:r>
            <a:r>
              <a:rPr lang="en-US" altLang="ko-KR" sz="1000" b="0" dirty="0">
                <a:effectLst/>
              </a:rPr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6A0FE-7AE0-44A6-9953-409DFEBF6A66}"/>
              </a:ext>
            </a:extLst>
          </p:cNvPr>
          <p:cNvSpPr txBox="1"/>
          <p:nvPr/>
        </p:nvSpPr>
        <p:spPr>
          <a:xfrm>
            <a:off x="5360628" y="3410784"/>
            <a:ext cx="45108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원본 수치분포</a:t>
            </a:r>
            <a:r>
              <a:rPr lang="en-US" altLang="ko-KR" sz="1000" dirty="0"/>
              <a:t>, </a:t>
            </a:r>
            <a:r>
              <a:rPr lang="ko-KR" altLang="en-US" sz="1000" dirty="0"/>
              <a:t>정규화 후 분포</a:t>
            </a:r>
            <a:r>
              <a:rPr lang="en-US" altLang="ko-KR" sz="1000" dirty="0"/>
              <a:t>(describe() </a:t>
            </a:r>
            <a:r>
              <a:rPr lang="ko-KR" altLang="en-US" sz="1000" dirty="0"/>
              <a:t>두 번</a:t>
            </a:r>
            <a:r>
              <a:rPr lang="en-US" altLang="ko-KR" sz="1000" dirty="0"/>
              <a:t>) </a:t>
            </a:r>
            <a:r>
              <a:rPr lang="ko-KR" altLang="en-US" sz="1000" dirty="0"/>
              <a:t>비교 가능</a:t>
            </a:r>
          </a:p>
          <a:p>
            <a:endParaRPr lang="ko-KR" altLang="en-US" sz="1000" dirty="0"/>
          </a:p>
          <a:p>
            <a:r>
              <a:rPr lang="en-US" altLang="ko-KR" sz="1000" dirty="0"/>
              <a:t>0~1 </a:t>
            </a:r>
            <a:r>
              <a:rPr lang="ko-KR" altLang="en-US" sz="1000" dirty="0"/>
              <a:t>사이 값으로 변환된 최종 데이터 </a:t>
            </a:r>
            <a:r>
              <a:rPr lang="en-US" altLang="ko-KR" sz="1000" dirty="0"/>
              <a:t>hms_movies_scaled.csv </a:t>
            </a:r>
            <a:r>
              <a:rPr lang="ko-KR" altLang="en-US" sz="1000" dirty="0"/>
              <a:t>저장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7076FD3-906F-4A8A-908A-6B861EB2C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52" y="4727474"/>
            <a:ext cx="8938870" cy="12331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2B9805-D344-4F78-A80D-9A76BFA19E31}"/>
              </a:ext>
            </a:extLst>
          </p:cNvPr>
          <p:cNvSpPr txBox="1"/>
          <p:nvPr/>
        </p:nvSpPr>
        <p:spPr>
          <a:xfrm>
            <a:off x="1219199" y="4232732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 b="1" dirty="0" err="1"/>
              <a:t>MinMaxScaler</a:t>
            </a:r>
            <a:r>
              <a:rPr lang="ko-KR" altLang="en-US" sz="1000" b="1" dirty="0"/>
              <a:t>로 주요 수치형 변수들을 </a:t>
            </a:r>
            <a:r>
              <a:rPr lang="en-US" altLang="ko-KR" sz="1000" b="1" dirty="0"/>
              <a:t>0~1 </a:t>
            </a:r>
            <a:r>
              <a:rPr lang="ko-KR" altLang="en-US" sz="1000" b="1" dirty="0"/>
              <a:t>범위로 </a:t>
            </a:r>
            <a:r>
              <a:rPr lang="ko-KR" altLang="en-US" sz="1000" b="1" dirty="0" err="1"/>
              <a:t>정규화하여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PCA</a:t>
            </a:r>
            <a:r>
              <a:rPr lang="ko-KR" altLang="en-US" sz="1000" b="1" dirty="0"/>
              <a:t>와 회귀 분석에서 비교 가능한 스케일을 맞추었습니다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5472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7238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19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4. </a:t>
            </a:r>
            <a:r>
              <a:rPr lang="ko-KR" altLang="en-US" dirty="0"/>
              <a:t>주성분 분석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5716589" cy="3069302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pandas as pd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from </a:t>
            </a:r>
            <a:r>
              <a:rPr lang="en-US" altLang="ko-KR" sz="1000" b="0" dirty="0" err="1">
                <a:effectLst/>
              </a:rPr>
              <a:t>sklearn.decomposition</a:t>
            </a:r>
            <a:r>
              <a:rPr lang="en-US" altLang="ko-KR" sz="1000" b="0" dirty="0">
                <a:effectLst/>
              </a:rPr>
              <a:t> import PCA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pd.read_csv</a:t>
            </a:r>
            <a:r>
              <a:rPr lang="en-US" altLang="ko-KR" sz="1000" b="0" dirty="0">
                <a:effectLst/>
              </a:rPr>
              <a:t>("hms_movies_scaled.csv")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feature_cols</a:t>
            </a:r>
            <a:r>
              <a:rPr lang="en-US" altLang="ko-KR" sz="1000" b="0" dirty="0">
                <a:effectLst/>
              </a:rPr>
              <a:t> = 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", 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", "cine21_score_detail", 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X = </a:t>
            </a: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[</a:t>
            </a:r>
            <a:r>
              <a:rPr lang="en-US" altLang="ko-KR" sz="1000" b="0" dirty="0" err="1">
                <a:effectLst/>
              </a:rPr>
              <a:t>feature_cols</a:t>
            </a:r>
            <a:r>
              <a:rPr lang="en-US" altLang="ko-KR" sz="1000" b="0" dirty="0">
                <a:effectLst/>
              </a:rPr>
              <a:t>]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pca</a:t>
            </a:r>
            <a:r>
              <a:rPr lang="en-US" altLang="ko-KR" sz="1000" b="0" dirty="0">
                <a:effectLst/>
              </a:rPr>
              <a:t> = PCA()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X_pca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pca.fit_transform</a:t>
            </a:r>
            <a:r>
              <a:rPr lang="en-US" altLang="ko-KR" sz="1000" b="0" dirty="0">
                <a:effectLst/>
              </a:rPr>
              <a:t>(X)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explained = </a:t>
            </a:r>
            <a:r>
              <a:rPr lang="en-US" altLang="ko-KR" sz="1000" b="0" dirty="0" err="1">
                <a:effectLst/>
              </a:rPr>
              <a:t>pca.explained_variance_ratio</a:t>
            </a:r>
            <a:r>
              <a:rPr lang="en-US" altLang="ko-KR" sz="1000" b="0" dirty="0">
                <a:effectLst/>
              </a:rPr>
              <a:t>_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eigenvalues = </a:t>
            </a:r>
            <a:r>
              <a:rPr lang="en-US" altLang="ko-KR" sz="1000" b="0" dirty="0" err="1">
                <a:effectLst/>
              </a:rPr>
              <a:t>pca.explained_variance</a:t>
            </a:r>
            <a:r>
              <a:rPr lang="en-US" altLang="ko-KR" sz="1000" b="0" dirty="0">
                <a:effectLst/>
              </a:rPr>
              <a:t>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7639980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Code-8]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주성분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/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설명력 구하기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5D824-0B91-4690-A72D-1301C97573FC}"/>
              </a:ext>
            </a:extLst>
          </p:cNvPr>
          <p:cNvSpPr txBox="1"/>
          <p:nvPr/>
        </p:nvSpPr>
        <p:spPr>
          <a:xfrm>
            <a:off x="5140488" y="1014490"/>
            <a:ext cx="4119034" cy="3530967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print("=== PCA </a:t>
            </a:r>
            <a:r>
              <a:rPr lang="ko-KR" altLang="en-US" sz="1000" b="0" dirty="0">
                <a:effectLst/>
              </a:rPr>
              <a:t>설명력 </a:t>
            </a:r>
            <a:r>
              <a:rPr lang="en-US" altLang="ko-KR" sz="1000" b="0" dirty="0">
                <a:effectLst/>
              </a:rPr>
              <a:t>===")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for </a:t>
            </a:r>
            <a:r>
              <a:rPr lang="en-US" altLang="ko-KR" sz="1000" b="0" dirty="0" err="1">
                <a:effectLst/>
              </a:rPr>
              <a:t>i</a:t>
            </a:r>
            <a:r>
              <a:rPr lang="en-US" altLang="ko-KR" sz="1000" b="0" dirty="0">
                <a:effectLst/>
              </a:rPr>
              <a:t>, r in enumerate(explained, start=1):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print(f"</a:t>
            </a:r>
            <a:r>
              <a:rPr lang="ko-KR" altLang="en-US" sz="1000" b="0" dirty="0">
                <a:effectLst/>
              </a:rPr>
              <a:t>제</a:t>
            </a:r>
            <a:r>
              <a:rPr lang="en-US" altLang="ko-KR" sz="1000" b="0" dirty="0">
                <a:effectLst/>
              </a:rPr>
              <a:t>{</a:t>
            </a:r>
            <a:r>
              <a:rPr lang="en-US" altLang="ko-KR" sz="1000" b="0" dirty="0" err="1">
                <a:effectLst/>
              </a:rPr>
              <a:t>i</a:t>
            </a:r>
            <a:r>
              <a:rPr lang="en-US" altLang="ko-KR" sz="1000" b="0" dirty="0">
                <a:effectLst/>
              </a:rPr>
              <a:t>}</a:t>
            </a:r>
            <a:r>
              <a:rPr lang="ko-KR" altLang="en-US" sz="1000" b="0" dirty="0">
                <a:effectLst/>
              </a:rPr>
              <a:t>주성분의 설명력 </a:t>
            </a:r>
            <a:r>
              <a:rPr lang="en-US" altLang="ko-KR" sz="1000" b="0" dirty="0">
                <a:effectLst/>
              </a:rPr>
              <a:t>: {r*100:.2f}%")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print("\n=== PCA </a:t>
            </a:r>
            <a:r>
              <a:rPr lang="ko-KR" altLang="en-US" sz="1000" b="0" dirty="0" err="1">
                <a:effectLst/>
              </a:rPr>
              <a:t>고유값</a:t>
            </a:r>
            <a:r>
              <a:rPr lang="ko-KR" altLang="en-US" sz="1000" b="0" dirty="0">
                <a:effectLst/>
              </a:rPr>
              <a:t> </a:t>
            </a:r>
            <a:r>
              <a:rPr lang="en-US" altLang="ko-KR" sz="1000" b="0" dirty="0">
                <a:effectLst/>
              </a:rPr>
              <a:t>===")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for </a:t>
            </a:r>
            <a:r>
              <a:rPr lang="en-US" altLang="ko-KR" sz="1000" b="0" dirty="0" err="1">
                <a:effectLst/>
              </a:rPr>
              <a:t>i</a:t>
            </a:r>
            <a:r>
              <a:rPr lang="en-US" altLang="ko-KR" sz="1000" b="0" dirty="0">
                <a:effectLst/>
              </a:rPr>
              <a:t>, v in enumerate(eigenvalues, start=1):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print(f"</a:t>
            </a:r>
            <a:r>
              <a:rPr lang="ko-KR" altLang="en-US" sz="1000" b="0" dirty="0">
                <a:effectLst/>
              </a:rPr>
              <a:t>제</a:t>
            </a:r>
            <a:r>
              <a:rPr lang="en-US" altLang="ko-KR" sz="1000" b="0" dirty="0">
                <a:effectLst/>
              </a:rPr>
              <a:t>{</a:t>
            </a:r>
            <a:r>
              <a:rPr lang="en-US" altLang="ko-KR" sz="1000" b="0" dirty="0" err="1">
                <a:effectLst/>
              </a:rPr>
              <a:t>i</a:t>
            </a:r>
            <a:r>
              <a:rPr lang="en-US" altLang="ko-KR" sz="1000" b="0" dirty="0">
                <a:effectLst/>
              </a:rPr>
              <a:t>}</a:t>
            </a:r>
            <a:r>
              <a:rPr lang="ko-KR" altLang="en-US" sz="1000" b="0" dirty="0">
                <a:effectLst/>
              </a:rPr>
              <a:t>주성분의 </a:t>
            </a:r>
            <a:r>
              <a:rPr lang="ko-KR" altLang="en-US" sz="1000" b="0" dirty="0" err="1">
                <a:effectLst/>
              </a:rPr>
              <a:t>고유값</a:t>
            </a:r>
            <a:r>
              <a:rPr lang="ko-KR" altLang="en-US" sz="1000" b="0" dirty="0">
                <a:effectLst/>
              </a:rPr>
              <a:t> </a:t>
            </a:r>
            <a:r>
              <a:rPr lang="en-US" altLang="ko-KR" sz="1000" b="0" dirty="0">
                <a:effectLst/>
              </a:rPr>
              <a:t>: {v:.6f}")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pc_cols</a:t>
            </a:r>
            <a:r>
              <a:rPr lang="en-US" altLang="ko-KR" sz="1000" b="0" dirty="0">
                <a:effectLst/>
              </a:rPr>
              <a:t> = [</a:t>
            </a:r>
            <a:r>
              <a:rPr lang="en-US" altLang="ko-KR" sz="1000" b="0" dirty="0" err="1">
                <a:effectLst/>
              </a:rPr>
              <a:t>f"PC</a:t>
            </a:r>
            <a:r>
              <a:rPr lang="en-US" altLang="ko-KR" sz="1000" b="0" dirty="0">
                <a:effectLst/>
              </a:rPr>
              <a:t>{i+1}" for </a:t>
            </a:r>
            <a:r>
              <a:rPr lang="en-US" altLang="ko-KR" sz="1000" b="0" dirty="0" err="1">
                <a:effectLst/>
              </a:rPr>
              <a:t>i</a:t>
            </a:r>
            <a:r>
              <a:rPr lang="en-US" altLang="ko-KR" sz="1000" b="0" dirty="0">
                <a:effectLst/>
              </a:rPr>
              <a:t> in range(</a:t>
            </a:r>
            <a:r>
              <a:rPr lang="en-US" altLang="ko-KR" sz="1000" b="0" dirty="0" err="1">
                <a:effectLst/>
              </a:rPr>
              <a:t>X_pca.shape</a:t>
            </a:r>
            <a:r>
              <a:rPr lang="en-US" altLang="ko-KR" sz="1000" b="0" dirty="0">
                <a:effectLst/>
              </a:rPr>
              <a:t>[1])]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df_pca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pd.DataFrame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X_pca</a:t>
            </a:r>
            <a:r>
              <a:rPr lang="en-US" altLang="ko-KR" sz="1000" b="0" dirty="0">
                <a:effectLst/>
              </a:rPr>
              <a:t>, columns=</a:t>
            </a:r>
            <a:r>
              <a:rPr lang="en-US" altLang="ko-KR" sz="1000" b="0" dirty="0" err="1">
                <a:effectLst/>
              </a:rPr>
              <a:t>pc_cols</a:t>
            </a:r>
            <a:r>
              <a:rPr lang="en-US" altLang="ko-KR" sz="1000" b="0" dirty="0">
                <a:effectLst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df_pca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movie_id</a:t>
            </a:r>
            <a:r>
              <a:rPr lang="en-US" altLang="ko-KR" sz="1000" b="0" dirty="0">
                <a:effectLst/>
              </a:rPr>
              <a:t>"] = </a:t>
            </a: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movie_id</a:t>
            </a:r>
            <a:r>
              <a:rPr lang="en-US" altLang="ko-KR" sz="1000" b="0" dirty="0">
                <a:effectLst/>
              </a:rPr>
              <a:t>"]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df_pca</a:t>
            </a:r>
            <a:r>
              <a:rPr lang="en-US" altLang="ko-KR" sz="1000" b="0" dirty="0">
                <a:effectLst/>
              </a:rPr>
              <a:t>["title"] = </a:t>
            </a: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["title"]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df_pca.to_csv</a:t>
            </a:r>
            <a:r>
              <a:rPr lang="en-US" altLang="ko-KR" sz="1000" b="0" dirty="0">
                <a:effectLst/>
              </a:rPr>
              <a:t>("hms_movies_pca.csv", index=False, encoding="utf-8-sig")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df_pca.head</a:t>
            </a:r>
            <a:r>
              <a:rPr lang="en-US" altLang="ko-KR" sz="1000" b="0" dirty="0">
                <a:effectLst/>
              </a:rPr>
              <a:t>()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7DFC09-647B-4EF4-BC99-A6BD05E31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32" y="4164664"/>
            <a:ext cx="3297229" cy="21451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88B9F3-0D04-49D6-9301-7E58C70F8CA1}"/>
              </a:ext>
            </a:extLst>
          </p:cNvPr>
          <p:cNvSpPr txBox="1"/>
          <p:nvPr/>
        </p:nvSpPr>
        <p:spPr>
          <a:xfrm>
            <a:off x="1917698" y="4743978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상영시간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관객수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평점 네 변수를 </a:t>
            </a:r>
            <a:r>
              <a:rPr lang="en-US" altLang="ko-KR" sz="1000" b="1" dirty="0"/>
              <a:t>PCA</a:t>
            </a:r>
            <a:r>
              <a:rPr lang="ko-KR" altLang="en-US" sz="1000" b="1" dirty="0"/>
              <a:t>로 요약하여 영화 성과를 대표하는 주성분과 각 성분의 설명력을 계산하였습니다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6130330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7238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20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5. </a:t>
            </a:r>
            <a:r>
              <a:rPr lang="ko-KR" altLang="en-US" dirty="0"/>
              <a:t>상관관계 분석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4684877" cy="2838469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pandas as pd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pd.read_csv</a:t>
            </a:r>
            <a:r>
              <a:rPr lang="en-US" altLang="ko-KR" sz="1000" b="0" dirty="0">
                <a:effectLst/>
              </a:rPr>
              <a:t>("hms_movies_scaled.csv")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gsm_totalData_normalized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[["</a:t>
            </a:r>
            <a:r>
              <a:rPr lang="en-US" altLang="ko-KR" sz="1000" b="0" dirty="0" err="1">
                <a:effectLst/>
              </a:rPr>
              <a:t>runtime_min</a:t>
            </a:r>
            <a:r>
              <a:rPr lang="en-US" altLang="ko-KR" sz="1000" b="0" dirty="0">
                <a:effectLst/>
              </a:rPr>
              <a:t>", "</a:t>
            </a:r>
            <a:r>
              <a:rPr lang="en-US" altLang="ko-KR" sz="1000" b="0" dirty="0" err="1">
                <a:effectLst/>
              </a:rPr>
              <a:t>audience_total</a:t>
            </a:r>
            <a:r>
              <a:rPr lang="en-US" altLang="ko-KR" sz="1000" b="0" dirty="0">
                <a:effectLst/>
              </a:rPr>
              <a:t>", "cine21_score_detail", "</a:t>
            </a:r>
            <a:r>
              <a:rPr lang="en-US" altLang="ko-KR" sz="1000" b="0" dirty="0" err="1">
                <a:effectLst/>
              </a:rPr>
              <a:t>netizen_score</a:t>
            </a:r>
            <a:r>
              <a:rPr lang="en-US" altLang="ko-KR" sz="1000" b="0" dirty="0">
                <a:effectLst/>
              </a:rPr>
              <a:t>"]]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coef_p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gsm_totalData_normalized.corr</a:t>
            </a:r>
            <a:r>
              <a:rPr lang="en-US" altLang="ko-KR" sz="1000" b="0" dirty="0">
                <a:effectLst/>
              </a:rPr>
              <a:t>(method="</a:t>
            </a:r>
            <a:r>
              <a:rPr lang="en-US" altLang="ko-KR" sz="1000" b="0" dirty="0" err="1">
                <a:effectLst/>
              </a:rPr>
              <a:t>pearson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print("=== </a:t>
            </a:r>
            <a:r>
              <a:rPr lang="ko-KR" altLang="en-US" sz="1000" b="0" dirty="0" err="1">
                <a:effectLst/>
              </a:rPr>
              <a:t>피어슨</a:t>
            </a:r>
            <a:r>
              <a:rPr lang="ko-KR" altLang="en-US" sz="1000" b="0" dirty="0">
                <a:effectLst/>
              </a:rPr>
              <a:t> 상관계수 </a:t>
            </a:r>
            <a:r>
              <a:rPr lang="en-US" altLang="ko-KR" sz="1000" b="0" dirty="0">
                <a:effectLst/>
              </a:rPr>
              <a:t>===")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</a:t>
            </a:r>
            <a:r>
              <a:rPr lang="en-US" altLang="ko-KR" sz="1000" b="0" dirty="0" err="1">
                <a:effectLst/>
              </a:rPr>
              <a:t>coef_p</a:t>
            </a:r>
            <a:r>
              <a:rPr lang="en-US" altLang="ko-KR" sz="1000" b="0" dirty="0">
                <a:effectLst/>
              </a:rPr>
              <a:t>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7639980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Code-9]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상관관계 분석 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: </a:t>
            </a:r>
            <a:r>
              <a:rPr lang="ko-KR" altLang="en-US" sz="1400" b="1" dirty="0" err="1">
                <a:solidFill>
                  <a:srgbClr val="F79646">
                    <a:lumMod val="50000"/>
                  </a:srgbClr>
                </a:solidFill>
                <a:latin typeface="+mn-ea"/>
              </a:rPr>
              <a:t>피어슨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rgbClr val="F79646">
                    <a:lumMod val="50000"/>
                  </a:srgbClr>
                </a:solidFill>
                <a:latin typeface="+mn-ea"/>
              </a:rPr>
              <a:t>스피어만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rgbClr val="F79646">
                    <a:lumMod val="50000"/>
                  </a:srgbClr>
                </a:solidFill>
                <a:latin typeface="+mn-ea"/>
              </a:rPr>
              <a:t>켄달</a:t>
            </a:r>
            <a:endParaRPr lang="ko-KR" altLang="en-US" sz="1400" b="1" dirty="0">
              <a:solidFill>
                <a:srgbClr val="F79646">
                  <a:lumMod val="50000"/>
                </a:srgbClr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5D824-0B91-4690-A72D-1301C97573FC}"/>
              </a:ext>
            </a:extLst>
          </p:cNvPr>
          <p:cNvSpPr txBox="1"/>
          <p:nvPr/>
        </p:nvSpPr>
        <p:spPr>
          <a:xfrm>
            <a:off x="5140488" y="1014490"/>
            <a:ext cx="4119034" cy="2376805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coef_s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gsm_totalData_normalized.corr</a:t>
            </a:r>
            <a:r>
              <a:rPr lang="en-US" altLang="ko-KR" sz="1000" b="0" dirty="0">
                <a:effectLst/>
              </a:rPr>
              <a:t>(method="spearman")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print("=== </a:t>
            </a:r>
            <a:r>
              <a:rPr lang="ko-KR" altLang="en-US" sz="1000" b="0" dirty="0" err="1">
                <a:effectLst/>
              </a:rPr>
              <a:t>스피어만</a:t>
            </a:r>
            <a:r>
              <a:rPr lang="ko-KR" altLang="en-US" sz="1000" b="0" dirty="0">
                <a:effectLst/>
              </a:rPr>
              <a:t> 상관계수 </a:t>
            </a:r>
            <a:r>
              <a:rPr lang="en-US" altLang="ko-KR" sz="1000" b="0" dirty="0">
                <a:effectLst/>
              </a:rPr>
              <a:t>===")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</a:t>
            </a:r>
            <a:r>
              <a:rPr lang="en-US" altLang="ko-KR" sz="1000" b="0" dirty="0" err="1">
                <a:effectLst/>
              </a:rPr>
              <a:t>coef_s</a:t>
            </a:r>
            <a:r>
              <a:rPr lang="en-US" altLang="ko-KR" sz="1000" b="0" dirty="0">
                <a:effectLst/>
              </a:rPr>
              <a:t>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coef_k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gsm_totalData_normalized.corr</a:t>
            </a:r>
            <a:r>
              <a:rPr lang="en-US" altLang="ko-KR" sz="1000" b="0" dirty="0">
                <a:effectLst/>
              </a:rPr>
              <a:t>(method="</a:t>
            </a:r>
            <a:r>
              <a:rPr lang="en-US" altLang="ko-KR" sz="1000" b="0" dirty="0" err="1">
                <a:effectLst/>
              </a:rPr>
              <a:t>kendall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print("=== </a:t>
            </a:r>
            <a:r>
              <a:rPr lang="ko-KR" altLang="en-US" sz="1000" b="0" dirty="0" err="1">
                <a:effectLst/>
              </a:rPr>
              <a:t>켄달</a:t>
            </a:r>
            <a:r>
              <a:rPr lang="ko-KR" altLang="en-US" sz="1000" b="0" dirty="0">
                <a:effectLst/>
              </a:rPr>
              <a:t> 상관계수 </a:t>
            </a:r>
            <a:r>
              <a:rPr lang="en-US" altLang="ko-KR" sz="1000" b="0" dirty="0">
                <a:effectLst/>
              </a:rPr>
              <a:t>===")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</a:t>
            </a:r>
            <a:r>
              <a:rPr lang="en-US" altLang="ko-KR" sz="1000" b="0" dirty="0" err="1">
                <a:effectLst/>
              </a:rPr>
              <a:t>coef_k</a:t>
            </a:r>
            <a:r>
              <a:rPr lang="en-US" altLang="ko-KR" sz="1000" b="0" dirty="0">
                <a:effectLst/>
              </a:rPr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F19B2A2-6C6B-4D8F-A134-EE050ACD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56" y="3942974"/>
            <a:ext cx="2590844" cy="23151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5B42F6-8B30-438C-ACB9-6947E4154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3989468"/>
            <a:ext cx="3714852" cy="16092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FD6723-AAEA-40B7-AE43-430FDA1A0F2E}"/>
              </a:ext>
            </a:extLst>
          </p:cNvPr>
          <p:cNvSpPr txBox="1"/>
          <p:nvPr/>
        </p:nvSpPr>
        <p:spPr>
          <a:xfrm>
            <a:off x="1889267" y="3545755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 err="1"/>
              <a:t>피어슨</a:t>
            </a:r>
            <a:r>
              <a:rPr lang="en-US" altLang="ko-KR" sz="1000" b="1" dirty="0"/>
              <a:t>·</a:t>
            </a:r>
            <a:r>
              <a:rPr lang="ko-KR" altLang="en-US" sz="1000" b="1" dirty="0" err="1"/>
              <a:t>스피어만</a:t>
            </a:r>
            <a:r>
              <a:rPr lang="en-US" altLang="ko-KR" sz="1000" b="1" dirty="0"/>
              <a:t>·</a:t>
            </a:r>
            <a:r>
              <a:rPr lang="ko-KR" altLang="en-US" sz="1000" b="1" dirty="0" err="1"/>
              <a:t>켄달</a:t>
            </a:r>
            <a:r>
              <a:rPr lang="ko-KR" altLang="en-US" sz="1000" b="1" dirty="0"/>
              <a:t> 상관계수를 통해 변수들 간의 관계를 다각도로 확인하여 어떤 지표가 함께 움직이는지 파악하였습니다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90634421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7238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21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6. </a:t>
            </a:r>
            <a:r>
              <a:rPr lang="ko-KR" altLang="en-US" dirty="0"/>
              <a:t>시계열 분석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5716589" cy="894732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0" dirty="0">
                <a:effectLst/>
              </a:rPr>
              <a:t>!apt-get -y install fonts-</a:t>
            </a:r>
            <a:r>
              <a:rPr lang="en-US" altLang="ko-KR" sz="1200" b="0" dirty="0" err="1">
                <a:effectLst/>
              </a:rPr>
              <a:t>nanum</a:t>
            </a:r>
            <a:endParaRPr lang="en-US" altLang="ko-KR" sz="12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0" dirty="0">
                <a:effectLst/>
              </a:rPr>
              <a:t>!fc-cache -</a:t>
            </a:r>
            <a:r>
              <a:rPr lang="en-US" altLang="ko-KR" sz="1200" b="0" dirty="0" err="1">
                <a:effectLst/>
              </a:rPr>
              <a:t>fv</a:t>
            </a:r>
            <a:endParaRPr lang="en-US" altLang="ko-KR" sz="12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0" dirty="0">
                <a:effectLst/>
              </a:rPr>
              <a:t>!rm -rf /root/.cache/matplotlib/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7639980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Code-10-1]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그래프 구현을 위한 한글 폰트 설치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138366-CE43-4D28-800E-BF31AE067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22" y="2018805"/>
            <a:ext cx="4244578" cy="26537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34F501-FA61-4CD0-9B57-0564414A1BF4}"/>
              </a:ext>
            </a:extLst>
          </p:cNvPr>
          <p:cNvSpPr txBox="1"/>
          <p:nvPr/>
        </p:nvSpPr>
        <p:spPr>
          <a:xfrm>
            <a:off x="1339848" y="5173520"/>
            <a:ext cx="74676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 err="1"/>
              <a:t>Colab</a:t>
            </a:r>
            <a:r>
              <a:rPr lang="en-US" altLang="ko-KR" sz="1400" dirty="0"/>
              <a:t> </a:t>
            </a:r>
            <a:r>
              <a:rPr lang="ko-KR" altLang="en-US" sz="1400" dirty="0"/>
              <a:t>환경에서 한글 그래프가 깨지지 않도록 나눔 폰트를 설치하고 캐시를 초기화하는 설정을 수행하였습니다</a:t>
            </a:r>
            <a:r>
              <a:rPr lang="en-US" altLang="ko-KR" sz="1400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27955916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7238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22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6. </a:t>
            </a:r>
            <a:r>
              <a:rPr lang="ko-KR" altLang="en-US" dirty="0"/>
              <a:t>시계열 분석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5716589" cy="4915961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re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pandas as pd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</a:t>
            </a:r>
            <a:r>
              <a:rPr lang="en-US" altLang="ko-KR" sz="1000" b="0" dirty="0" err="1">
                <a:effectLst/>
              </a:rPr>
              <a:t>matplotlib.pyplot</a:t>
            </a:r>
            <a:r>
              <a:rPr lang="en-US" altLang="ko-KR" sz="1000" b="0" dirty="0">
                <a:effectLst/>
              </a:rPr>
              <a:t> as </a:t>
            </a:r>
            <a:r>
              <a:rPr lang="en-US" altLang="ko-KR" sz="1000" b="0" dirty="0" err="1">
                <a:effectLst/>
              </a:rPr>
              <a:t>plt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from </a:t>
            </a:r>
            <a:r>
              <a:rPr lang="en-US" altLang="ko-KR" sz="1000" b="0" dirty="0" err="1">
                <a:effectLst/>
              </a:rPr>
              <a:t>statsmodels.tsa.arima.model</a:t>
            </a:r>
            <a:r>
              <a:rPr lang="en-US" altLang="ko-KR" sz="1000" b="0" dirty="0">
                <a:effectLst/>
              </a:rPr>
              <a:t> import ARIMA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from matplotlib import </a:t>
            </a:r>
            <a:r>
              <a:rPr lang="en-US" altLang="ko-KR" sz="1000" b="0" dirty="0" err="1">
                <a:effectLst/>
              </a:rPr>
              <a:t>rcParams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rcParams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font.family</a:t>
            </a:r>
            <a:r>
              <a:rPr lang="en-US" altLang="ko-KR" sz="1000" b="0" dirty="0">
                <a:effectLst/>
              </a:rPr>
              <a:t>"] = "</a:t>
            </a:r>
            <a:r>
              <a:rPr lang="en-US" altLang="ko-KR" sz="1000" b="0" dirty="0" err="1">
                <a:effectLst/>
              </a:rPr>
              <a:t>NanumGothic</a:t>
            </a:r>
            <a:r>
              <a:rPr lang="en-US" altLang="ko-KR" sz="1000" b="0" dirty="0">
                <a:effectLst/>
              </a:rPr>
              <a:t>"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rcParams</a:t>
            </a:r>
            <a:r>
              <a:rPr lang="en-US" altLang="ko-KR" sz="1000" b="0" dirty="0">
                <a:effectLst/>
              </a:rPr>
              <a:t>["</a:t>
            </a:r>
            <a:r>
              <a:rPr lang="en-US" altLang="ko-KR" sz="1000" b="0" dirty="0" err="1">
                <a:effectLst/>
              </a:rPr>
              <a:t>axes.unicode_minus</a:t>
            </a:r>
            <a:r>
              <a:rPr lang="en-US" altLang="ko-KR" sz="1000" b="0" dirty="0">
                <a:effectLst/>
              </a:rPr>
              <a:t>"] = False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df = </a:t>
            </a:r>
            <a:r>
              <a:rPr lang="en-US" altLang="ko-KR" sz="1000" b="0" dirty="0" err="1">
                <a:effectLst/>
              </a:rPr>
              <a:t>pd.read_csv</a:t>
            </a:r>
            <a:r>
              <a:rPr lang="en-US" altLang="ko-KR" sz="1000" b="0" dirty="0">
                <a:effectLst/>
              </a:rPr>
              <a:t>("hms_movies_clean.csv")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def </a:t>
            </a:r>
            <a:r>
              <a:rPr lang="en-US" altLang="ko-KR" sz="1000" b="0" dirty="0" err="1">
                <a:effectLst/>
              </a:rPr>
              <a:t>extract_date</a:t>
            </a:r>
            <a:r>
              <a:rPr lang="en-US" altLang="ko-KR" sz="1000" b="0" dirty="0">
                <a:effectLst/>
              </a:rPr>
              <a:t>(text):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if </a:t>
            </a:r>
            <a:r>
              <a:rPr lang="en-US" altLang="ko-KR" sz="1000" b="0" dirty="0" err="1">
                <a:effectLst/>
              </a:rPr>
              <a:t>pd.isna</a:t>
            </a:r>
            <a:r>
              <a:rPr lang="en-US" altLang="ko-KR" sz="1000" b="0" dirty="0">
                <a:effectLst/>
              </a:rPr>
              <a:t>(text):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    return </a:t>
            </a:r>
            <a:r>
              <a:rPr lang="en-US" altLang="ko-KR" sz="1000" b="0" dirty="0" err="1">
                <a:effectLst/>
              </a:rPr>
              <a:t>pd.NaT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s = str(text)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m = </a:t>
            </a:r>
            <a:r>
              <a:rPr lang="en-US" altLang="ko-KR" sz="1000" b="0" dirty="0" err="1">
                <a:effectLst/>
              </a:rPr>
              <a:t>re.search</a:t>
            </a:r>
            <a:r>
              <a:rPr lang="en-US" altLang="ko-KR" sz="1000" b="0" dirty="0">
                <a:effectLst/>
              </a:rPr>
              <a:t>(r"\d{4}[.\-]\d{1,2}[.\-]\d{1,2}", s)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if not m: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    return </a:t>
            </a:r>
            <a:r>
              <a:rPr lang="en-US" altLang="ko-KR" sz="1000" b="0" dirty="0" err="1">
                <a:effectLst/>
              </a:rPr>
              <a:t>pd.NaT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d = </a:t>
            </a:r>
            <a:r>
              <a:rPr lang="en-US" altLang="ko-KR" sz="1000" b="0" dirty="0" err="1">
                <a:effectLst/>
              </a:rPr>
              <a:t>m.group</a:t>
            </a:r>
            <a:r>
              <a:rPr lang="en-US" altLang="ko-KR" sz="1000" b="0" dirty="0">
                <a:effectLst/>
              </a:rPr>
              <a:t>(0).replace(".", "-")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return </a:t>
            </a:r>
            <a:r>
              <a:rPr lang="en-US" altLang="ko-KR" sz="1000" b="0" dirty="0" err="1">
                <a:effectLst/>
              </a:rPr>
              <a:t>pd.to_datetime</a:t>
            </a:r>
            <a:r>
              <a:rPr lang="en-US" altLang="ko-KR" sz="1000" b="0" dirty="0">
                <a:effectLst/>
              </a:rPr>
              <a:t>(d, format="%Y-%m-%d", errors="coerce")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9585348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Code-10-2]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월별 개봉 영화를 시계열 분석하여 다음달 영화의 평점을 예측하는 코드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CA6977-5684-4FE8-ABD9-0799E20E4E87}"/>
              </a:ext>
            </a:extLst>
          </p:cNvPr>
          <p:cNvSpPr txBox="1"/>
          <p:nvPr/>
        </p:nvSpPr>
        <p:spPr>
          <a:xfrm>
            <a:off x="2050267" y="3962400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개봉일 텍스트에서 날짜를 추출해 월별 평균 평점을 계산할 수 있는 시계열 데이터 구조를 구축하였습니다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96789736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7238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23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6. </a:t>
            </a:r>
            <a:r>
              <a:rPr lang="ko-KR" altLang="en-US" dirty="0"/>
              <a:t>시계열 분석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5716589" cy="5146794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df["</a:t>
            </a:r>
            <a:r>
              <a:rPr lang="en-US" altLang="ko-KR" sz="1000" b="0" dirty="0" err="1">
                <a:effectLst/>
              </a:rPr>
              <a:t>open_date</a:t>
            </a:r>
            <a:r>
              <a:rPr lang="en-US" altLang="ko-KR" sz="1000" b="0" dirty="0">
                <a:effectLst/>
              </a:rPr>
              <a:t>"] = df["</a:t>
            </a:r>
            <a:r>
              <a:rPr lang="en-US" altLang="ko-KR" sz="1000" b="0" dirty="0" err="1">
                <a:effectLst/>
              </a:rPr>
              <a:t>open_date_detail</a:t>
            </a:r>
            <a:r>
              <a:rPr lang="en-US" altLang="ko-KR" sz="1000" b="0" dirty="0">
                <a:effectLst/>
              </a:rPr>
              <a:t>"].apply(</a:t>
            </a:r>
            <a:r>
              <a:rPr lang="en-US" altLang="ko-KR" sz="1000" b="0" dirty="0" err="1">
                <a:effectLst/>
              </a:rPr>
              <a:t>extract_date</a:t>
            </a:r>
            <a:r>
              <a:rPr lang="en-US" altLang="ko-KR" sz="1000" b="0" dirty="0">
                <a:effectLst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df = </a:t>
            </a:r>
            <a:r>
              <a:rPr lang="en-US" altLang="ko-KR" sz="1000" b="0" dirty="0" err="1">
                <a:effectLst/>
              </a:rPr>
              <a:t>df.dropna</a:t>
            </a:r>
            <a:r>
              <a:rPr lang="en-US" altLang="ko-KR" sz="1000" b="0" dirty="0">
                <a:effectLst/>
              </a:rPr>
              <a:t>(subset=["</a:t>
            </a:r>
            <a:r>
              <a:rPr lang="en-US" altLang="ko-KR" sz="1000" b="0" dirty="0" err="1">
                <a:effectLst/>
              </a:rPr>
              <a:t>open_date</a:t>
            </a:r>
            <a:r>
              <a:rPr lang="en-US" altLang="ko-KR" sz="1000" b="0" dirty="0">
                <a:effectLst/>
              </a:rPr>
              <a:t>"])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rating_col</a:t>
            </a:r>
            <a:r>
              <a:rPr lang="en-US" altLang="ko-KR" sz="1000" b="0" dirty="0">
                <a:effectLst/>
              </a:rPr>
              <a:t> = "cine21_score_detail"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df[</a:t>
            </a:r>
            <a:r>
              <a:rPr lang="en-US" altLang="ko-KR" sz="1000" b="0" dirty="0" err="1">
                <a:effectLst/>
              </a:rPr>
              <a:t>rating_col</a:t>
            </a:r>
            <a:r>
              <a:rPr lang="en-US" altLang="ko-KR" sz="1000" b="0" dirty="0">
                <a:effectLst/>
              </a:rPr>
              <a:t>] = </a:t>
            </a:r>
            <a:r>
              <a:rPr lang="en-US" altLang="ko-KR" sz="1000" b="0" dirty="0" err="1">
                <a:effectLst/>
              </a:rPr>
              <a:t>pd.to_numeric</a:t>
            </a:r>
            <a:r>
              <a:rPr lang="en-US" altLang="ko-KR" sz="1000" b="0" dirty="0">
                <a:effectLst/>
              </a:rPr>
              <a:t>(df[</a:t>
            </a:r>
            <a:r>
              <a:rPr lang="en-US" altLang="ko-KR" sz="1000" b="0" dirty="0" err="1">
                <a:effectLst/>
              </a:rPr>
              <a:t>rating_col</a:t>
            </a:r>
            <a:r>
              <a:rPr lang="en-US" altLang="ko-KR" sz="1000" b="0" dirty="0">
                <a:effectLst/>
              </a:rPr>
              <a:t>], errors="coerce")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df = </a:t>
            </a:r>
            <a:r>
              <a:rPr lang="en-US" altLang="ko-KR" sz="1000" b="0" dirty="0" err="1">
                <a:effectLst/>
              </a:rPr>
              <a:t>df.dropna</a:t>
            </a:r>
            <a:r>
              <a:rPr lang="en-US" altLang="ko-KR" sz="1000" b="0" dirty="0">
                <a:effectLst/>
              </a:rPr>
              <a:t>(subset=[</a:t>
            </a:r>
            <a:r>
              <a:rPr lang="en-US" altLang="ko-KR" sz="1000" b="0" dirty="0" err="1">
                <a:effectLst/>
              </a:rPr>
              <a:t>rating_col</a:t>
            </a:r>
            <a:r>
              <a:rPr lang="en-US" altLang="ko-KR" sz="1000" b="0" dirty="0">
                <a:effectLst/>
              </a:rPr>
              <a:t>])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monthly = (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</a:t>
            </a:r>
            <a:r>
              <a:rPr lang="en-US" altLang="ko-KR" sz="1000" b="0" dirty="0" err="1">
                <a:effectLst/>
              </a:rPr>
              <a:t>df.set_index</a:t>
            </a:r>
            <a:r>
              <a:rPr lang="en-US" altLang="ko-KR" sz="1000" b="0" dirty="0">
                <a:effectLst/>
              </a:rPr>
              <a:t>("</a:t>
            </a:r>
            <a:r>
              <a:rPr lang="en-US" altLang="ko-KR" sz="1000" b="0" dirty="0" err="1">
                <a:effectLst/>
              </a:rPr>
              <a:t>open_date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  .</a:t>
            </a:r>
            <a:r>
              <a:rPr lang="en-US" altLang="ko-KR" sz="1000" b="0" dirty="0" err="1">
                <a:effectLst/>
              </a:rPr>
              <a:t>groupby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pd.Grouper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freq</a:t>
            </a:r>
            <a:r>
              <a:rPr lang="en-US" altLang="ko-KR" sz="1000" b="0" dirty="0">
                <a:effectLst/>
              </a:rPr>
              <a:t>="ME"))[</a:t>
            </a:r>
            <a:r>
              <a:rPr lang="en-US" altLang="ko-KR" sz="1000" b="0" dirty="0" err="1">
                <a:effectLst/>
              </a:rPr>
              <a:t>rating_col</a:t>
            </a:r>
            <a:r>
              <a:rPr lang="en-US" altLang="ko-KR" sz="1000" b="0" dirty="0">
                <a:effectLst/>
              </a:rPr>
              <a:t>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  .mean()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      .</a:t>
            </a:r>
            <a:r>
              <a:rPr lang="en-US" altLang="ko-KR" sz="1000" b="0" dirty="0" err="1">
                <a:effectLst/>
              </a:rPr>
              <a:t>sort_index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monthly = </a:t>
            </a:r>
            <a:r>
              <a:rPr lang="en-US" altLang="ko-KR" sz="1000" b="0" dirty="0" err="1">
                <a:effectLst/>
              </a:rPr>
              <a:t>monthly.asfreq</a:t>
            </a:r>
            <a:r>
              <a:rPr lang="en-US" altLang="ko-KR" sz="1000" b="0" dirty="0">
                <a:effectLst/>
              </a:rPr>
              <a:t>("ME")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monthly = </a:t>
            </a:r>
            <a:r>
              <a:rPr lang="en-US" altLang="ko-KR" sz="1000" b="0" dirty="0" err="1">
                <a:effectLst/>
              </a:rPr>
              <a:t>monthly.interpolate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model = ARIMA(monthly, order=(1, 1, 1))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fit = </a:t>
            </a:r>
            <a:r>
              <a:rPr lang="en-US" altLang="ko-KR" sz="1000" b="0" dirty="0" err="1">
                <a:effectLst/>
              </a:rPr>
              <a:t>model.fit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forecast_res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fit.get_forecast</a:t>
            </a:r>
            <a:r>
              <a:rPr lang="en-US" altLang="ko-KR" sz="1000" b="0" dirty="0">
                <a:effectLst/>
              </a:rPr>
              <a:t>(steps=1)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pred_mean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forecast_res.predicted_mean</a:t>
            </a:r>
            <a:endParaRPr lang="en-US" altLang="ko-KR" sz="1000" b="0" dirty="0">
              <a:effectLst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9585348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Code-10-2]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월별 개봉 영화를 시계열 분석하여 다음달 영화의 평점을 예측하는 코드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AC98DE-F705-4F46-BED8-69C9E1A91993}"/>
              </a:ext>
            </a:extLst>
          </p:cNvPr>
          <p:cNvSpPr txBox="1"/>
          <p:nvPr/>
        </p:nvSpPr>
        <p:spPr>
          <a:xfrm>
            <a:off x="1752600" y="3909219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 b="1" dirty="0"/>
              <a:t>ARIMA </a:t>
            </a:r>
            <a:r>
              <a:rPr lang="ko-KR" altLang="en-US" sz="1000" b="1" dirty="0"/>
              <a:t>모형을 이용해 월별 평균 평점을 학습시키고 다음 달 영화 평균 평점을 한 스텝 앞서 예측하는 코드를 구현하였습니다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4792430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07238" y="548217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24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dirty="0"/>
              <a:t>6. </a:t>
            </a:r>
            <a:r>
              <a:rPr lang="ko-KR" altLang="en-US" dirty="0"/>
              <a:t>시계열 분석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5716589" cy="3530967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</a:t>
            </a:r>
            <a:r>
              <a:rPr lang="ko-KR" altLang="en-US" sz="1000" b="0" dirty="0">
                <a:effectLst/>
              </a:rPr>
              <a:t>최근 </a:t>
            </a:r>
            <a:r>
              <a:rPr lang="en-US" altLang="ko-KR" sz="1000" b="0" dirty="0">
                <a:effectLst/>
              </a:rPr>
              <a:t>5</a:t>
            </a:r>
            <a:r>
              <a:rPr lang="ko-KR" altLang="en-US" sz="1000" b="0" dirty="0">
                <a:effectLst/>
              </a:rPr>
              <a:t>개월 평균 평점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</a:t>
            </a:r>
            <a:r>
              <a:rPr lang="en-US" altLang="ko-KR" sz="1000" b="0" dirty="0" err="1">
                <a:effectLst/>
              </a:rPr>
              <a:t>monthly.tail</a:t>
            </a:r>
            <a:r>
              <a:rPr lang="en-US" altLang="ko-KR" sz="1000" b="0" dirty="0">
                <a:effectLst/>
              </a:rPr>
              <a:t>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</a:t>
            </a:r>
            <a:r>
              <a:rPr lang="ko-KR" altLang="en-US" sz="1000" b="0" dirty="0">
                <a:effectLst/>
              </a:rPr>
              <a:t>다음달 예상 평균 평점</a:t>
            </a:r>
            <a:r>
              <a:rPr lang="en-US" altLang="ko-KR" sz="1000" b="0" dirty="0">
                <a:effectLst/>
              </a:rPr>
              <a:t>:", float(</a:t>
            </a:r>
            <a:r>
              <a:rPr lang="en-US" altLang="ko-KR" sz="1000" b="0" dirty="0" err="1">
                <a:effectLst/>
              </a:rPr>
              <a:t>pred_mean.iloc</a:t>
            </a:r>
            <a:r>
              <a:rPr lang="en-US" altLang="ko-KR" sz="1000" b="0" dirty="0">
                <a:effectLst/>
              </a:rPr>
              <a:t>[0]))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plt.figure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figsize</a:t>
            </a:r>
            <a:r>
              <a:rPr lang="en-US" altLang="ko-KR" sz="1000" b="0" dirty="0">
                <a:effectLst/>
              </a:rPr>
              <a:t>=(10, 4))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plt.plot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monthly.index</a:t>
            </a:r>
            <a:r>
              <a:rPr lang="en-US" altLang="ko-KR" sz="1000" b="0" dirty="0">
                <a:effectLst/>
              </a:rPr>
              <a:t>, monthly, label="</a:t>
            </a:r>
            <a:r>
              <a:rPr lang="ko-KR" altLang="en-US" sz="1000" b="0" dirty="0">
                <a:effectLst/>
              </a:rPr>
              <a:t>실제 월별 평균 평점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plt.plot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pred_mean.index</a:t>
            </a:r>
            <a:r>
              <a:rPr lang="en-US" altLang="ko-KR" sz="1000" b="0" dirty="0">
                <a:effectLst/>
              </a:rPr>
              <a:t>, </a:t>
            </a:r>
            <a:r>
              <a:rPr lang="en-US" altLang="ko-KR" sz="1000" b="0" dirty="0" err="1">
                <a:effectLst/>
              </a:rPr>
              <a:t>pred_mean</a:t>
            </a:r>
            <a:r>
              <a:rPr lang="en-US" altLang="ko-KR" sz="1000" b="0" dirty="0">
                <a:effectLst/>
              </a:rPr>
              <a:t>, marker="o", label="</a:t>
            </a:r>
            <a:r>
              <a:rPr lang="ko-KR" altLang="en-US" sz="1000" b="0" dirty="0">
                <a:effectLst/>
              </a:rPr>
              <a:t>예측</a:t>
            </a:r>
            <a:r>
              <a:rPr lang="en-US" altLang="ko-KR" sz="1000" b="0" dirty="0">
                <a:effectLst/>
              </a:rPr>
              <a:t>(</a:t>
            </a:r>
            <a:r>
              <a:rPr lang="ko-KR" altLang="en-US" sz="1000" b="0" dirty="0">
                <a:effectLst/>
              </a:rPr>
              <a:t>다음달</a:t>
            </a:r>
            <a:r>
              <a:rPr lang="en-US" altLang="ko-KR" sz="1000" b="0" dirty="0">
                <a:effectLst/>
              </a:rPr>
              <a:t>)")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plt.xlabel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>
                <a:effectLst/>
              </a:rPr>
              <a:t>월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plt.ylabel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>
                <a:effectLst/>
              </a:rPr>
              <a:t>평점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plt.title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>
                <a:effectLst/>
              </a:rPr>
              <a:t>월별 평균 평점과 다음달 </a:t>
            </a:r>
            <a:r>
              <a:rPr lang="ko-KR" altLang="en-US" sz="1000" b="0" dirty="0" err="1">
                <a:effectLst/>
              </a:rPr>
              <a:t>예측값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plt.legend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plt.xticks</a:t>
            </a:r>
            <a:r>
              <a:rPr lang="en-US" altLang="ko-KR" sz="1000" b="0" dirty="0">
                <a:effectLst/>
              </a:rPr>
              <a:t>(rotation=45)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plt.tight_layout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plt.show</a:t>
            </a:r>
            <a:r>
              <a:rPr lang="en-US" altLang="ko-KR" sz="1000" b="0" dirty="0">
                <a:effectLst/>
              </a:rPr>
              <a:t>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9585348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Code-10-2]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월별 개봉 영화를 시계열 분석하여 다음달 영화의 평점을 예측하는 코드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250484-D919-44C1-9204-6783A15CD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854" y="1044868"/>
            <a:ext cx="2857996" cy="15211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546030F-264C-490E-B9B9-684DBE1B3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4056939"/>
            <a:ext cx="5329424" cy="20481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51E1FB-B392-4BA4-A9D1-38EE7F9DFF0C}"/>
              </a:ext>
            </a:extLst>
          </p:cNvPr>
          <p:cNvSpPr txBox="1"/>
          <p:nvPr/>
        </p:nvSpPr>
        <p:spPr>
          <a:xfrm>
            <a:off x="2231161" y="3685452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최근 몇 개월의 평균 평점과 예측 값을 함께 </a:t>
            </a:r>
            <a:r>
              <a:rPr lang="ko-KR" altLang="en-US" sz="1000" b="1" dirty="0" err="1"/>
              <a:t>시각화하여</a:t>
            </a:r>
            <a:r>
              <a:rPr lang="ko-KR" altLang="en-US" sz="1000" b="1" dirty="0"/>
              <a:t> 시계열 모델이 전체 추세를 얼마나 잘 따라가는지 확인하였습니다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8190306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91998" y="54821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25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sz="2400" dirty="0"/>
              <a:t>7. </a:t>
            </a:r>
            <a:r>
              <a:rPr lang="ko-KR" altLang="en-US" sz="2400" dirty="0"/>
              <a:t>선형회귀분석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5716589" cy="3300134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pandas as pd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</a:t>
            </a:r>
            <a:r>
              <a:rPr lang="en-US" altLang="ko-KR" sz="1000" b="0" dirty="0" err="1">
                <a:effectLst/>
              </a:rPr>
              <a:t>matplotlib.pyplot</a:t>
            </a:r>
            <a:r>
              <a:rPr lang="en-US" altLang="ko-KR" sz="1000" b="0" dirty="0">
                <a:effectLst/>
              </a:rPr>
              <a:t> as </a:t>
            </a:r>
            <a:r>
              <a:rPr lang="en-US" altLang="ko-KR" sz="1000" b="0" dirty="0" err="1">
                <a:effectLst/>
              </a:rPr>
              <a:t>plt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from </a:t>
            </a:r>
            <a:r>
              <a:rPr lang="en-US" altLang="ko-KR" sz="1000" b="0" dirty="0" err="1">
                <a:effectLst/>
              </a:rPr>
              <a:t>sklearn.linear_model</a:t>
            </a:r>
            <a:r>
              <a:rPr lang="en-US" altLang="ko-KR" sz="1000" b="0" dirty="0">
                <a:effectLst/>
              </a:rPr>
              <a:t> import </a:t>
            </a:r>
            <a:r>
              <a:rPr lang="en-US" altLang="ko-KR" sz="1000" b="0" dirty="0" err="1">
                <a:effectLst/>
              </a:rPr>
              <a:t>LinearRegression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from </a:t>
            </a:r>
            <a:r>
              <a:rPr lang="en-US" altLang="ko-KR" sz="1000" b="0" dirty="0" err="1">
                <a:effectLst/>
              </a:rPr>
              <a:t>sklearn.metrics</a:t>
            </a:r>
            <a:r>
              <a:rPr lang="en-US" altLang="ko-KR" sz="1000" b="0" dirty="0">
                <a:effectLst/>
              </a:rPr>
              <a:t> import r2_score, </a:t>
            </a:r>
            <a:r>
              <a:rPr lang="en-US" altLang="ko-KR" sz="1000" b="0" dirty="0" err="1">
                <a:effectLst/>
              </a:rPr>
              <a:t>mean_squared_error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pd.read_csv</a:t>
            </a:r>
            <a:r>
              <a:rPr lang="en-US" altLang="ko-KR" sz="1000" b="0" dirty="0">
                <a:effectLst/>
              </a:rPr>
              <a:t>("hms_movies_scaled.csv")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df_pca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pd.read_csv</a:t>
            </a:r>
            <a:r>
              <a:rPr lang="en-US" altLang="ko-KR" sz="1000" b="0" dirty="0">
                <a:effectLst/>
              </a:rPr>
              <a:t>("hms_movies_pca.csv")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X = </a:t>
            </a:r>
            <a:r>
              <a:rPr lang="en-US" altLang="ko-KR" sz="1000" b="0" dirty="0" err="1">
                <a:effectLst/>
              </a:rPr>
              <a:t>df_pca</a:t>
            </a:r>
            <a:r>
              <a:rPr lang="en-US" altLang="ko-KR" sz="1000" b="0" dirty="0">
                <a:effectLst/>
              </a:rPr>
              <a:t>[["PC1"]]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y = </a:t>
            </a:r>
            <a:r>
              <a:rPr lang="en-US" altLang="ko-KR" sz="1000" b="0" dirty="0" err="1">
                <a:effectLst/>
              </a:rPr>
              <a:t>df_scaled</a:t>
            </a:r>
            <a:r>
              <a:rPr lang="en-US" altLang="ko-KR" sz="1000" b="0" dirty="0">
                <a:effectLst/>
              </a:rPr>
              <a:t>["cine21_score_detail"]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model = </a:t>
            </a:r>
            <a:r>
              <a:rPr lang="en-US" altLang="ko-KR" sz="1000" b="0" dirty="0" err="1">
                <a:effectLst/>
              </a:rPr>
              <a:t>LinearRegression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model.fit</a:t>
            </a:r>
            <a:r>
              <a:rPr lang="en-US" altLang="ko-KR" sz="1000" b="0" dirty="0">
                <a:effectLst/>
              </a:rPr>
              <a:t>(X, y)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y_pred</a:t>
            </a:r>
            <a:r>
              <a:rPr lang="en-US" altLang="ko-KR" sz="1000" b="0" dirty="0">
                <a:effectLst/>
              </a:rPr>
              <a:t> = </a:t>
            </a:r>
            <a:r>
              <a:rPr lang="en-US" altLang="ko-KR" sz="1000" b="0" dirty="0" err="1">
                <a:effectLst/>
              </a:rPr>
              <a:t>model.predict</a:t>
            </a:r>
            <a:r>
              <a:rPr lang="en-US" altLang="ko-KR" sz="1000" b="0" dirty="0">
                <a:effectLst/>
              </a:rPr>
              <a:t>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9585348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Code-11]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주성분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(PC1)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을 이용한 선형회귀분석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03EB0-6D05-4590-9E13-A14D3A48C2D5}"/>
              </a:ext>
            </a:extLst>
          </p:cNvPr>
          <p:cNvSpPr txBox="1"/>
          <p:nvPr/>
        </p:nvSpPr>
        <p:spPr>
          <a:xfrm>
            <a:off x="3657600" y="1008732"/>
            <a:ext cx="3810000" cy="3300134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</a:t>
            </a:r>
            <a:r>
              <a:rPr lang="ko-KR" altLang="en-US" sz="1000" b="0" dirty="0">
                <a:effectLst/>
              </a:rPr>
              <a:t>회귀계수</a:t>
            </a:r>
            <a:r>
              <a:rPr lang="en-US" altLang="ko-KR" sz="1000" b="0" dirty="0">
                <a:effectLst/>
              </a:rPr>
              <a:t>(</a:t>
            </a:r>
            <a:r>
              <a:rPr lang="ko-KR" altLang="en-US" sz="1000" b="0" dirty="0">
                <a:effectLst/>
              </a:rPr>
              <a:t>기울기</a:t>
            </a:r>
            <a:r>
              <a:rPr lang="en-US" altLang="ko-KR" sz="1000" b="0" dirty="0">
                <a:effectLst/>
              </a:rPr>
              <a:t>):", float(</a:t>
            </a:r>
            <a:r>
              <a:rPr lang="en-US" altLang="ko-KR" sz="1000" b="0" dirty="0" err="1">
                <a:effectLst/>
              </a:rPr>
              <a:t>model.coef</a:t>
            </a:r>
            <a:r>
              <a:rPr lang="en-US" altLang="ko-KR" sz="1000" b="0" dirty="0">
                <a:effectLst/>
              </a:rPr>
              <a:t>_[0]))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</a:t>
            </a:r>
            <a:r>
              <a:rPr lang="ko-KR" altLang="en-US" sz="1000" b="0" dirty="0">
                <a:effectLst/>
              </a:rPr>
              <a:t>절편</a:t>
            </a:r>
            <a:r>
              <a:rPr lang="en-US" altLang="ko-KR" sz="1000" b="0" dirty="0">
                <a:effectLst/>
              </a:rPr>
              <a:t>:", float(</a:t>
            </a:r>
            <a:r>
              <a:rPr lang="en-US" altLang="ko-KR" sz="1000" b="0" dirty="0" err="1">
                <a:effectLst/>
              </a:rPr>
              <a:t>model.intercept</a:t>
            </a:r>
            <a:r>
              <a:rPr lang="en-US" altLang="ko-KR" sz="1000" b="0" dirty="0">
                <a:effectLst/>
              </a:rPr>
              <a:t>_))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</a:t>
            </a:r>
            <a:r>
              <a:rPr lang="ko-KR" altLang="en-US" sz="1000" b="0" dirty="0">
                <a:effectLst/>
              </a:rPr>
              <a:t>결정계수 </a:t>
            </a:r>
            <a:r>
              <a:rPr lang="en-US" altLang="ko-KR" sz="1000" b="0" dirty="0">
                <a:effectLst/>
              </a:rPr>
              <a:t>R^2:", r2_score(y, </a:t>
            </a:r>
            <a:r>
              <a:rPr lang="en-US" altLang="ko-KR" sz="1000" b="0" dirty="0" err="1">
                <a:effectLst/>
              </a:rPr>
              <a:t>y_pred</a:t>
            </a:r>
            <a:r>
              <a:rPr lang="en-US" altLang="ko-KR" sz="1000" b="0" dirty="0">
                <a:effectLst/>
              </a:rPr>
              <a:t>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print("</a:t>
            </a:r>
            <a:r>
              <a:rPr lang="ko-KR" altLang="en-US" sz="1000" b="0" dirty="0" err="1">
                <a:effectLst/>
              </a:rPr>
              <a:t>평균제곱오차</a:t>
            </a:r>
            <a:r>
              <a:rPr lang="ko-KR" altLang="en-US" sz="1000" b="0" dirty="0">
                <a:effectLst/>
              </a:rPr>
              <a:t> </a:t>
            </a:r>
            <a:r>
              <a:rPr lang="en-US" altLang="ko-KR" sz="1000" b="0" dirty="0">
                <a:effectLst/>
              </a:rPr>
              <a:t>MSE:", </a:t>
            </a:r>
            <a:r>
              <a:rPr lang="en-US" altLang="ko-KR" sz="1000" b="0" dirty="0" err="1">
                <a:effectLst/>
              </a:rPr>
              <a:t>mean_squared_error</a:t>
            </a:r>
            <a:r>
              <a:rPr lang="en-US" altLang="ko-KR" sz="1000" b="0" dirty="0">
                <a:effectLst/>
              </a:rPr>
              <a:t>(y, </a:t>
            </a:r>
            <a:r>
              <a:rPr lang="en-US" altLang="ko-KR" sz="1000" b="0" dirty="0" err="1">
                <a:effectLst/>
              </a:rPr>
              <a:t>y_pred</a:t>
            </a:r>
            <a:r>
              <a:rPr lang="en-US" altLang="ko-KR" sz="1000" b="0" dirty="0">
                <a:effectLst/>
              </a:rPr>
              <a:t>))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plt.figure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figsize</a:t>
            </a:r>
            <a:r>
              <a:rPr lang="en-US" altLang="ko-KR" sz="1000" b="0" dirty="0">
                <a:effectLst/>
              </a:rPr>
              <a:t>=(6, 4))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plt.scatter</a:t>
            </a:r>
            <a:r>
              <a:rPr lang="en-US" altLang="ko-KR" sz="1000" b="0" dirty="0">
                <a:effectLst/>
              </a:rPr>
              <a:t>(X["PC1"], y, alpha=0.5, label="</a:t>
            </a:r>
            <a:r>
              <a:rPr lang="ko-KR" altLang="en-US" sz="1000" b="0" dirty="0">
                <a:effectLst/>
              </a:rPr>
              <a:t>실제 평점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plt.plot</a:t>
            </a:r>
            <a:r>
              <a:rPr lang="en-US" altLang="ko-KR" sz="1000" b="0" dirty="0">
                <a:effectLst/>
              </a:rPr>
              <a:t>(X["PC1"], </a:t>
            </a:r>
            <a:r>
              <a:rPr lang="en-US" altLang="ko-KR" sz="1000" b="0" dirty="0" err="1">
                <a:effectLst/>
              </a:rPr>
              <a:t>y_pred</a:t>
            </a:r>
            <a:r>
              <a:rPr lang="en-US" altLang="ko-KR" sz="1000" b="0" dirty="0">
                <a:effectLst/>
              </a:rPr>
              <a:t>, label="</a:t>
            </a:r>
            <a:r>
              <a:rPr lang="ko-KR" altLang="en-US" sz="1000" b="0" dirty="0">
                <a:effectLst/>
              </a:rPr>
              <a:t>회귀 직선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plt.xlabel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>
                <a:effectLst/>
              </a:rPr>
              <a:t>제</a:t>
            </a:r>
            <a:r>
              <a:rPr lang="en-US" altLang="ko-KR" sz="1000" b="0" dirty="0">
                <a:effectLst/>
              </a:rPr>
              <a:t>1</a:t>
            </a:r>
            <a:r>
              <a:rPr lang="ko-KR" altLang="en-US" sz="1000" b="0" dirty="0">
                <a:effectLst/>
              </a:rPr>
              <a:t>주성분 </a:t>
            </a:r>
            <a:r>
              <a:rPr lang="en-US" altLang="ko-KR" sz="1000" b="0" dirty="0">
                <a:effectLst/>
              </a:rPr>
              <a:t>PC1")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plt.ylabel</a:t>
            </a:r>
            <a:r>
              <a:rPr lang="en-US" altLang="ko-KR" sz="1000" b="0" dirty="0">
                <a:effectLst/>
              </a:rPr>
              <a:t>("cine21 </a:t>
            </a:r>
            <a:r>
              <a:rPr lang="ko-KR" altLang="en-US" sz="1000" b="0" dirty="0">
                <a:effectLst/>
              </a:rPr>
              <a:t>평점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plt.title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>
                <a:effectLst/>
              </a:rPr>
              <a:t>제</a:t>
            </a:r>
            <a:r>
              <a:rPr lang="en-US" altLang="ko-KR" sz="1000" b="0" dirty="0">
                <a:effectLst/>
              </a:rPr>
              <a:t>1</a:t>
            </a:r>
            <a:r>
              <a:rPr lang="ko-KR" altLang="en-US" sz="1000" b="0" dirty="0">
                <a:effectLst/>
              </a:rPr>
              <a:t>주성분을 이용한 평점 선형회귀분석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plt.legend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plt.tight_layout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plt.show</a:t>
            </a:r>
            <a:r>
              <a:rPr lang="en-US" altLang="ko-KR" sz="1000" b="0" dirty="0">
                <a:effectLst/>
              </a:rPr>
              <a:t>()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2ECD5F8-CE23-441D-AE29-BB11E8EB3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160" y="4429971"/>
            <a:ext cx="2572109" cy="6382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A0F4224-C66F-4FF2-9913-BB1B73829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66" y="4429971"/>
            <a:ext cx="2921396" cy="18625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D7EC9B-2AD0-43BF-AEB5-28A738E4816E}"/>
              </a:ext>
            </a:extLst>
          </p:cNvPr>
          <p:cNvSpPr txBox="1"/>
          <p:nvPr/>
        </p:nvSpPr>
        <p:spPr>
          <a:xfrm>
            <a:off x="3715660" y="5200559"/>
            <a:ext cx="51702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R²</a:t>
            </a:r>
            <a:r>
              <a:rPr lang="ko-KR" altLang="en-US" sz="1000" dirty="0"/>
              <a:t>가 약 </a:t>
            </a:r>
            <a:r>
              <a:rPr lang="en-US" altLang="ko-KR" sz="1000" dirty="0"/>
              <a:t>0.52</a:t>
            </a:r>
            <a:r>
              <a:rPr lang="ko-KR" altLang="en-US" sz="1000" dirty="0"/>
              <a:t>로</a:t>
            </a:r>
            <a:r>
              <a:rPr lang="en-US" altLang="ko-KR" sz="1000" dirty="0"/>
              <a:t>, </a:t>
            </a:r>
            <a:r>
              <a:rPr lang="ko-KR" altLang="en-US" sz="1000" dirty="0"/>
              <a:t>제</a:t>
            </a:r>
            <a:r>
              <a:rPr lang="en-US" altLang="ko-KR" sz="1000" dirty="0"/>
              <a:t>1</a:t>
            </a:r>
            <a:r>
              <a:rPr lang="ko-KR" altLang="en-US" sz="1000" dirty="0"/>
              <a:t>주성분 하나만으로도 평점 변동의 절반 정도를 설명하고 있어 과제 수준에서는 무난한 결과라 할 수 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MSE</a:t>
            </a:r>
            <a:r>
              <a:rPr lang="ko-KR" altLang="en-US" sz="1000" dirty="0"/>
              <a:t>가 약 </a:t>
            </a:r>
            <a:r>
              <a:rPr lang="en-US" altLang="ko-KR" sz="1000" dirty="0"/>
              <a:t>0.011(RMSE </a:t>
            </a:r>
            <a:r>
              <a:rPr lang="ko-KR" altLang="en-US" sz="1000" dirty="0"/>
              <a:t>약 </a:t>
            </a:r>
            <a:r>
              <a:rPr lang="en-US" altLang="ko-KR" sz="1000" dirty="0"/>
              <a:t>0.10) </a:t>
            </a:r>
            <a:r>
              <a:rPr lang="ko-KR" altLang="en-US" sz="1000" dirty="0"/>
              <a:t>정도로</a:t>
            </a:r>
            <a:r>
              <a:rPr lang="en-US" altLang="ko-KR" sz="1000" dirty="0"/>
              <a:t>, </a:t>
            </a:r>
            <a:r>
              <a:rPr lang="ko-KR" altLang="en-US" sz="1000" dirty="0"/>
              <a:t>예측 오차도 지나치게 크지 않은 편에 속해 있다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완전히 이상적인 값은 아니지만</a:t>
            </a:r>
            <a:r>
              <a:rPr lang="en-US" altLang="ko-KR" sz="1000" dirty="0"/>
              <a:t>, </a:t>
            </a:r>
            <a:r>
              <a:rPr lang="ko-KR" altLang="en-US" sz="1000" dirty="0"/>
              <a:t>실제 영화 데이터를 사용했다는 점을 고려하면 충분히 현실적인 수치로 볼 수 있다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결국 </a:t>
            </a:r>
            <a:r>
              <a:rPr lang="en-US" altLang="ko-KR" sz="1000" dirty="0"/>
              <a:t>PC1</a:t>
            </a:r>
            <a:r>
              <a:rPr lang="ko-KR" altLang="en-US" sz="1000" dirty="0"/>
              <a:t>만으로도 일정 수준의 설명력이 확보되어 있고</a:t>
            </a:r>
            <a:r>
              <a:rPr lang="en-US" altLang="ko-KR" sz="1000" dirty="0"/>
              <a:t>, </a:t>
            </a:r>
            <a:r>
              <a:rPr lang="ko-KR" altLang="en-US" sz="1000" dirty="0"/>
              <a:t>나머지 변동은 다른 요인들에 의해 결정된다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7F36D5-8144-47A8-A51C-DBCE99811148}"/>
              </a:ext>
            </a:extLst>
          </p:cNvPr>
          <p:cNvSpPr txBox="1"/>
          <p:nvPr/>
        </p:nvSpPr>
        <p:spPr>
          <a:xfrm>
            <a:off x="1743775" y="4228686"/>
            <a:ext cx="7467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제</a:t>
            </a:r>
            <a:r>
              <a:rPr lang="en-US" altLang="ko-KR" sz="1000" b="1" dirty="0"/>
              <a:t>1</a:t>
            </a:r>
            <a:r>
              <a:rPr lang="ko-KR" altLang="en-US" sz="1000" b="1" dirty="0"/>
              <a:t>주성분 </a:t>
            </a:r>
            <a:r>
              <a:rPr lang="en-US" altLang="ko-KR" sz="1000" b="1" dirty="0"/>
              <a:t>PC1</a:t>
            </a:r>
            <a:r>
              <a:rPr lang="ko-KR" altLang="en-US" sz="1000" b="1" dirty="0"/>
              <a:t>을 설명 변수로</a:t>
            </a:r>
            <a:r>
              <a:rPr lang="en-US" altLang="ko-KR" sz="1000" b="1" dirty="0"/>
              <a:t>, </a:t>
            </a:r>
            <a:r>
              <a:rPr lang="ko-KR" altLang="en-US" sz="1000" b="1" dirty="0" err="1"/>
              <a:t>씨네</a:t>
            </a:r>
            <a:r>
              <a:rPr lang="en-US" altLang="ko-KR" sz="1000" b="1" dirty="0"/>
              <a:t>21 </a:t>
            </a:r>
            <a:r>
              <a:rPr lang="ko-KR" altLang="en-US" sz="1000" b="1" dirty="0"/>
              <a:t>평점을 반응 변수로 한 선형회귀모형을 적합하여 </a:t>
            </a:r>
            <a:r>
              <a:rPr lang="en-US" altLang="ko-KR" sz="1000" b="1" dirty="0"/>
              <a:t>R²</a:t>
            </a:r>
            <a:r>
              <a:rPr lang="ko-KR" altLang="en-US" sz="1000" b="1" dirty="0"/>
              <a:t>와 </a:t>
            </a:r>
            <a:r>
              <a:rPr lang="en-US" altLang="ko-KR" sz="1000" b="1" dirty="0"/>
              <a:t>MSE </a:t>
            </a:r>
            <a:r>
              <a:rPr lang="ko-KR" altLang="en-US" sz="1000" b="1" dirty="0"/>
              <a:t>등 성능을 평가하였습니다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52889385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91998" y="548218"/>
            <a:ext cx="9378110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572"/>
          </a:p>
        </p:txBody>
      </p:sp>
      <p:sp>
        <p:nvSpPr>
          <p:cNvPr id="7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229599" y="6248402"/>
            <a:ext cx="1155700" cy="243416"/>
          </a:xfr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 sz="1600">
                <a:solidFill>
                  <a:schemeClr val="tx1"/>
                </a:solidFill>
              </a:rPr>
              <a:pPr lvl="0">
                <a:defRPr/>
              </a:pPr>
              <a:t>26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47428" y="0"/>
            <a:ext cx="6742424" cy="56974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sz="2400" dirty="0"/>
              <a:t>8. </a:t>
            </a:r>
            <a:r>
              <a:rPr lang="ko-KR" altLang="en-US" sz="2400" dirty="0"/>
              <a:t>제</a:t>
            </a:r>
            <a:r>
              <a:rPr lang="en-US" altLang="ko-KR" sz="2400" dirty="0"/>
              <a:t>1</a:t>
            </a:r>
            <a:r>
              <a:rPr lang="ko-KR" altLang="en-US" sz="2400" dirty="0"/>
              <a:t>주성분을 이용한 예측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455613" y="1295400"/>
            <a:ext cx="8994775" cy="5227638"/>
          </a:xfrm>
        </p:spPr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55611" y="1008732"/>
            <a:ext cx="5716589" cy="3761799"/>
          </a:xfrm>
          <a:prstGeom prst="rect">
            <a:avLst/>
          </a:prstGeom>
          <a:solidFill>
            <a:srgbClr val="E6E0ED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pandas as pd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</a:t>
            </a:r>
            <a:r>
              <a:rPr lang="en-US" altLang="ko-KR" sz="1000" b="0" dirty="0" err="1">
                <a:effectLst/>
              </a:rPr>
              <a:t>numpy</a:t>
            </a:r>
            <a:r>
              <a:rPr lang="en-US" altLang="ko-KR" sz="1000" b="0" dirty="0">
                <a:effectLst/>
              </a:rPr>
              <a:t> as np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import </a:t>
            </a:r>
            <a:r>
              <a:rPr lang="en-US" altLang="ko-KR" sz="1000" b="0" dirty="0" err="1">
                <a:effectLst/>
              </a:rPr>
              <a:t>matplotlib.pyplot</a:t>
            </a:r>
            <a:r>
              <a:rPr lang="en-US" altLang="ko-KR" sz="1000" b="0" dirty="0">
                <a:effectLst/>
              </a:rPr>
              <a:t> as </a:t>
            </a:r>
            <a:r>
              <a:rPr lang="en-US" altLang="ko-KR" sz="1000" b="0" dirty="0" err="1">
                <a:effectLst/>
              </a:rPr>
              <a:t>plt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from </a:t>
            </a:r>
            <a:r>
              <a:rPr lang="en-US" altLang="ko-KR" sz="1000" b="0" dirty="0" err="1">
                <a:effectLst/>
              </a:rPr>
              <a:t>sklearn.linear_model</a:t>
            </a:r>
            <a:r>
              <a:rPr lang="en-US" altLang="ko-KR" sz="1000" b="0" dirty="0">
                <a:effectLst/>
              </a:rPr>
              <a:t> import </a:t>
            </a:r>
            <a:r>
              <a:rPr lang="en-US" altLang="ko-KR" sz="1000" b="0" dirty="0" err="1">
                <a:effectLst/>
              </a:rPr>
              <a:t>LinearRegression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>
                <a:effectLst/>
              </a:rPr>
              <a:t>from </a:t>
            </a:r>
            <a:r>
              <a:rPr lang="en-US" altLang="ko-KR" sz="1000" b="0" dirty="0" err="1">
                <a:effectLst/>
              </a:rPr>
              <a:t>sklearn.metrics</a:t>
            </a:r>
            <a:r>
              <a:rPr lang="en-US" altLang="ko-KR" sz="1000" b="0" dirty="0">
                <a:effectLst/>
              </a:rPr>
              <a:t> import r2_score, </a:t>
            </a:r>
            <a:r>
              <a:rPr lang="en-US" altLang="ko-KR" sz="1000" b="0" dirty="0" err="1">
                <a:effectLst/>
              </a:rPr>
              <a:t>mean_squared_error</a:t>
            </a: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000" b="0" dirty="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plt.figure</a:t>
            </a:r>
            <a:r>
              <a:rPr lang="en-US" altLang="ko-KR" sz="1000" b="0" dirty="0">
                <a:effectLst/>
              </a:rPr>
              <a:t>(</a:t>
            </a:r>
            <a:r>
              <a:rPr lang="en-US" altLang="ko-KR" sz="1000" b="0" dirty="0" err="1">
                <a:effectLst/>
              </a:rPr>
              <a:t>figsize</a:t>
            </a:r>
            <a:r>
              <a:rPr lang="en-US" altLang="ko-KR" sz="1000" b="0" dirty="0">
                <a:effectLst/>
              </a:rPr>
              <a:t>=(5, 5))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plt.scatter</a:t>
            </a:r>
            <a:r>
              <a:rPr lang="en-US" altLang="ko-KR" sz="1000" b="0" dirty="0">
                <a:effectLst/>
              </a:rPr>
              <a:t>(y, </a:t>
            </a:r>
            <a:r>
              <a:rPr lang="en-US" altLang="ko-KR" sz="1000" b="0" dirty="0" err="1">
                <a:effectLst/>
              </a:rPr>
              <a:t>y_pred</a:t>
            </a:r>
            <a:r>
              <a:rPr lang="en-US" altLang="ko-KR" sz="1000" b="0" dirty="0">
                <a:effectLst/>
              </a:rPr>
              <a:t>, alpha=0.5)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min_v</a:t>
            </a:r>
            <a:r>
              <a:rPr lang="en-US" altLang="ko-KR" sz="1000" b="0" dirty="0">
                <a:effectLst/>
              </a:rPr>
              <a:t> = min(</a:t>
            </a:r>
            <a:r>
              <a:rPr lang="en-US" altLang="ko-KR" sz="1000" b="0" dirty="0" err="1">
                <a:effectLst/>
              </a:rPr>
              <a:t>y.min</a:t>
            </a:r>
            <a:r>
              <a:rPr lang="en-US" altLang="ko-KR" sz="1000" b="0" dirty="0">
                <a:effectLst/>
              </a:rPr>
              <a:t>(), </a:t>
            </a:r>
            <a:r>
              <a:rPr lang="en-US" altLang="ko-KR" sz="1000" b="0" dirty="0" err="1">
                <a:effectLst/>
              </a:rPr>
              <a:t>y_pred.min</a:t>
            </a:r>
            <a:r>
              <a:rPr lang="en-US" altLang="ko-KR" sz="1000" b="0" dirty="0">
                <a:effectLst/>
              </a:rPr>
              <a:t>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max_v</a:t>
            </a:r>
            <a:r>
              <a:rPr lang="en-US" altLang="ko-KR" sz="1000" b="0" dirty="0">
                <a:effectLst/>
              </a:rPr>
              <a:t> = max(</a:t>
            </a:r>
            <a:r>
              <a:rPr lang="en-US" altLang="ko-KR" sz="1000" b="0" dirty="0" err="1">
                <a:effectLst/>
              </a:rPr>
              <a:t>y.max</a:t>
            </a:r>
            <a:r>
              <a:rPr lang="en-US" altLang="ko-KR" sz="1000" b="0" dirty="0">
                <a:effectLst/>
              </a:rPr>
              <a:t>(), </a:t>
            </a:r>
            <a:r>
              <a:rPr lang="en-US" altLang="ko-KR" sz="1000" b="0" dirty="0" err="1">
                <a:effectLst/>
              </a:rPr>
              <a:t>y_pred.max</a:t>
            </a:r>
            <a:r>
              <a:rPr lang="en-US" altLang="ko-KR" sz="1000" b="0" dirty="0">
                <a:effectLst/>
              </a:rPr>
              <a:t>())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plt.plot</a:t>
            </a:r>
            <a:r>
              <a:rPr lang="en-US" altLang="ko-KR" sz="1000" b="0" dirty="0">
                <a:effectLst/>
              </a:rPr>
              <a:t>([</a:t>
            </a:r>
            <a:r>
              <a:rPr lang="en-US" altLang="ko-KR" sz="1000" b="0" dirty="0" err="1">
                <a:effectLst/>
              </a:rPr>
              <a:t>min_v</a:t>
            </a:r>
            <a:r>
              <a:rPr lang="en-US" altLang="ko-KR" sz="1000" b="0" dirty="0">
                <a:effectLst/>
              </a:rPr>
              <a:t>, </a:t>
            </a:r>
            <a:r>
              <a:rPr lang="en-US" altLang="ko-KR" sz="1000" b="0" dirty="0" err="1">
                <a:effectLst/>
              </a:rPr>
              <a:t>max_v</a:t>
            </a:r>
            <a:r>
              <a:rPr lang="en-US" altLang="ko-KR" sz="1000" b="0" dirty="0">
                <a:effectLst/>
              </a:rPr>
              <a:t>], [</a:t>
            </a:r>
            <a:r>
              <a:rPr lang="en-US" altLang="ko-KR" sz="1000" b="0" dirty="0" err="1">
                <a:effectLst/>
              </a:rPr>
              <a:t>min_v</a:t>
            </a:r>
            <a:r>
              <a:rPr lang="en-US" altLang="ko-KR" sz="1000" b="0" dirty="0">
                <a:effectLst/>
              </a:rPr>
              <a:t>, </a:t>
            </a:r>
            <a:r>
              <a:rPr lang="en-US" altLang="ko-KR" sz="1000" b="0" dirty="0" err="1">
                <a:effectLst/>
              </a:rPr>
              <a:t>max_v</a:t>
            </a:r>
            <a:r>
              <a:rPr lang="en-US" altLang="ko-KR" sz="1000" b="0" dirty="0">
                <a:effectLst/>
              </a:rPr>
              <a:t>])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plt.xlabel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>
                <a:effectLst/>
              </a:rPr>
              <a:t>실제 평점</a:t>
            </a:r>
            <a:r>
              <a:rPr lang="en-US" altLang="ko-KR" sz="1000" b="0" dirty="0">
                <a:effectLst/>
              </a:rPr>
              <a:t>(</a:t>
            </a:r>
            <a:r>
              <a:rPr lang="ko-KR" altLang="en-US" sz="1000" b="0" dirty="0">
                <a:effectLst/>
              </a:rPr>
              <a:t>정규화</a:t>
            </a:r>
            <a:r>
              <a:rPr lang="en-US" altLang="ko-KR" sz="1000" b="0" dirty="0">
                <a:effectLst/>
              </a:rPr>
              <a:t>)")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plt.ylabel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>
                <a:effectLst/>
              </a:rPr>
              <a:t>예측 평점</a:t>
            </a:r>
            <a:r>
              <a:rPr lang="en-US" altLang="ko-KR" sz="1000" b="0" dirty="0">
                <a:effectLst/>
              </a:rPr>
              <a:t>(</a:t>
            </a:r>
            <a:r>
              <a:rPr lang="ko-KR" altLang="en-US" sz="1000" b="0" dirty="0">
                <a:effectLst/>
              </a:rPr>
              <a:t>정규화</a:t>
            </a:r>
            <a:r>
              <a:rPr lang="en-US" altLang="ko-KR" sz="1000" b="0" dirty="0">
                <a:effectLst/>
              </a:rPr>
              <a:t>)")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plt.title</a:t>
            </a:r>
            <a:r>
              <a:rPr lang="en-US" altLang="ko-KR" sz="1000" b="0" dirty="0">
                <a:effectLst/>
              </a:rPr>
              <a:t>("</a:t>
            </a:r>
            <a:r>
              <a:rPr lang="ko-KR" altLang="en-US" sz="1000" b="0" dirty="0">
                <a:effectLst/>
              </a:rPr>
              <a:t>실제 평점 </a:t>
            </a:r>
            <a:r>
              <a:rPr lang="en-US" altLang="ko-KR" sz="1000" b="0" dirty="0">
                <a:effectLst/>
              </a:rPr>
              <a:t>vs </a:t>
            </a:r>
            <a:r>
              <a:rPr lang="ko-KR" altLang="en-US" sz="1000" b="0" dirty="0">
                <a:effectLst/>
              </a:rPr>
              <a:t>예측 평점</a:t>
            </a:r>
            <a:r>
              <a:rPr lang="en-US" altLang="ko-KR" sz="1000" b="0" dirty="0">
                <a:effectLst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plt.tight_layout</a:t>
            </a:r>
            <a:r>
              <a:rPr lang="en-US" altLang="ko-KR" sz="1000" b="0" dirty="0">
                <a:effectLst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b="0" dirty="0" err="1">
                <a:effectLst/>
              </a:rPr>
              <a:t>plt.show</a:t>
            </a:r>
            <a:r>
              <a:rPr lang="en-US" altLang="ko-KR" sz="1000" b="0" dirty="0">
                <a:effectLst/>
              </a:rPr>
              <a:t>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"/>
            <a:ext cx="9585348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56" lvl="2">
              <a:lnSpc>
                <a:spcPct val="150000"/>
              </a:lnSpc>
              <a:buClr>
                <a:srgbClr val="3C479D"/>
              </a:buClr>
              <a:defRPr/>
            </a:pP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[HMS Project Code-12] 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1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주성분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(PC1)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을 이용한 영화 평점 예측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선형회귀분석</a:t>
            </a:r>
            <a:r>
              <a:rPr lang="en-US" altLang="ko-KR" sz="1400" b="1" dirty="0">
                <a:solidFill>
                  <a:srgbClr val="F79646">
                    <a:lumMod val="50000"/>
                  </a:srgbClr>
                </a:solidFill>
                <a:latin typeface="+mn-ea"/>
              </a:rPr>
              <a:t>)</a:t>
            </a:r>
            <a:endParaRPr lang="ko-KR" altLang="en-US" sz="1400" b="1" dirty="0">
              <a:solidFill>
                <a:srgbClr val="F79646">
                  <a:lumMod val="50000"/>
                </a:srgb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9BDF0A-3B10-49F1-9352-1AC233C1B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642" y="2862630"/>
            <a:ext cx="3021101" cy="29246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B68B69-4F16-406E-B199-5719313769B9}"/>
              </a:ext>
            </a:extLst>
          </p:cNvPr>
          <p:cNvSpPr txBox="1"/>
          <p:nvPr/>
        </p:nvSpPr>
        <p:spPr>
          <a:xfrm>
            <a:off x="1193977" y="4977824"/>
            <a:ext cx="51702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산점도에서</a:t>
            </a:r>
            <a:r>
              <a:rPr lang="ko-KR" altLang="en-US" sz="1000" dirty="0"/>
              <a:t> 대부분의 점들이 대각선 주변에 분포하고 있어</a:t>
            </a:r>
            <a:r>
              <a:rPr lang="en-US" altLang="ko-KR" sz="1000" dirty="0"/>
              <a:t>, </a:t>
            </a:r>
            <a:r>
              <a:rPr lang="ko-KR" altLang="en-US" sz="1000" dirty="0"/>
              <a:t>모형이 전체적인 평점의 상승</a:t>
            </a:r>
            <a:r>
              <a:rPr lang="en-US" altLang="ko-KR" sz="1000" dirty="0"/>
              <a:t>·</a:t>
            </a:r>
            <a:r>
              <a:rPr lang="ko-KR" altLang="en-US" sz="1000" dirty="0"/>
              <a:t>하락 방향은 대체로 잘 따라가고 있다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다만 실제 평점이 약 </a:t>
            </a:r>
            <a:r>
              <a:rPr lang="en-US" altLang="ko-KR" sz="1000" dirty="0"/>
              <a:t>0.6 </a:t>
            </a:r>
            <a:r>
              <a:rPr lang="ko-KR" altLang="en-US" sz="1000" dirty="0"/>
              <a:t>부근에 몰려 있는 구간에서 </a:t>
            </a:r>
            <a:r>
              <a:rPr lang="ko-KR" altLang="en-US" sz="1000" dirty="0" err="1"/>
              <a:t>예측값이</a:t>
            </a:r>
            <a:r>
              <a:rPr lang="ko-KR" altLang="en-US" sz="1000" dirty="0"/>
              <a:t> 위아래로 퍼져 있어</a:t>
            </a:r>
            <a:r>
              <a:rPr lang="en-US" altLang="ko-KR" sz="1000" dirty="0"/>
              <a:t>, </a:t>
            </a:r>
            <a:r>
              <a:rPr lang="ko-KR" altLang="en-US" sz="1000" dirty="0"/>
              <a:t>같은 실제 평점에 대해서는 예측의 변동이 다소 큰 편이다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일부 점들은 대각선에서 눈에 띄게 벗어나 있어</a:t>
            </a:r>
            <a:r>
              <a:rPr lang="en-US" altLang="ko-KR" sz="1000" dirty="0"/>
              <a:t>, </a:t>
            </a:r>
            <a:r>
              <a:rPr lang="ko-KR" altLang="en-US" sz="1000" dirty="0"/>
              <a:t>특정 영화들에 대해서는 과대</a:t>
            </a:r>
            <a:r>
              <a:rPr lang="en-US" altLang="ko-KR" sz="1000" dirty="0"/>
              <a:t>·</a:t>
            </a:r>
            <a:r>
              <a:rPr lang="ko-KR" altLang="en-US" sz="1000" dirty="0"/>
              <a:t>과소 예측이 발생하고 있음을 보여준다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따라서 선형회귀모형이 전반적인 경향은 적절히 설명하고 있으나</a:t>
            </a:r>
            <a:r>
              <a:rPr lang="en-US" altLang="ko-KR" sz="1000" dirty="0"/>
              <a:t>, </a:t>
            </a:r>
            <a:r>
              <a:rPr lang="ko-KR" altLang="en-US" sz="1000" dirty="0"/>
              <a:t>세부적인 개별 영화 수준까지 완전히 정확하게 예측하는 데에는 한계가 있다고 볼 수 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CC5600-A4C5-4C59-A294-528DC8AA933D}"/>
              </a:ext>
            </a:extLst>
          </p:cNvPr>
          <p:cNvSpPr txBox="1"/>
          <p:nvPr/>
        </p:nvSpPr>
        <p:spPr>
          <a:xfrm>
            <a:off x="2042647" y="1198462"/>
            <a:ext cx="74676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실제 평점과 예측 평점을 </a:t>
            </a:r>
            <a:r>
              <a:rPr lang="ko-KR" altLang="en-US" sz="1000" b="1" dirty="0" err="1"/>
              <a:t>산점도로</a:t>
            </a:r>
            <a:r>
              <a:rPr lang="ko-KR" altLang="en-US" sz="1000" b="1" dirty="0"/>
              <a:t> 비교한 결과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전체적인 경향은 잘 맞지만 일부 영화에서는 과대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과소 예측이 존재함을 확인하였습니다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80773897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7DDE-C449-FC12-F64D-CD6B6EEF1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20A6FC5-D774-7E5B-2723-D892BE1FFE01}"/>
              </a:ext>
            </a:extLst>
          </p:cNvPr>
          <p:cNvSpPr/>
          <p:nvPr/>
        </p:nvSpPr>
        <p:spPr>
          <a:xfrm>
            <a:off x="263944" y="638374"/>
            <a:ext cx="9378111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2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0731FF6-9918-E076-E686-509DA0C7C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96" y="153594"/>
            <a:ext cx="9161580" cy="400110"/>
          </a:xfrm>
        </p:spPr>
        <p:txBody>
          <a:bodyPr>
            <a:noAutofit/>
          </a:bodyPr>
          <a:lstStyle/>
          <a:p>
            <a:pPr algn="l"/>
            <a:r>
              <a:rPr lang="en-US" altLang="ko-KR" sz="2400" dirty="0"/>
              <a:t>9. </a:t>
            </a:r>
            <a:r>
              <a:rPr lang="ko-KR" altLang="en-US" sz="2400" dirty="0"/>
              <a:t>데이터분석 결과</a:t>
            </a:r>
          </a:p>
        </p:txBody>
      </p:sp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B61E9FB2-F458-AB21-12CC-BE7F1C7E3BA9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27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80709-67BC-7442-772D-13DF4D8A933E}"/>
              </a:ext>
            </a:extLst>
          </p:cNvPr>
          <p:cNvSpPr txBox="1"/>
          <p:nvPr/>
        </p:nvSpPr>
        <p:spPr>
          <a:xfrm>
            <a:off x="795670" y="1169249"/>
            <a:ext cx="85896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데이터 수집 및 </a:t>
            </a:r>
            <a:r>
              <a:rPr lang="ko-KR" altLang="en-US" sz="2000" dirty="0" err="1"/>
              <a:t>전처리</a:t>
            </a:r>
            <a:endParaRPr lang="ko-KR" altLang="en-US" sz="2000" dirty="0"/>
          </a:p>
          <a:p>
            <a:r>
              <a:rPr lang="ko-KR" altLang="en-US" sz="2000" dirty="0"/>
              <a:t>영화 정보 사이트에서 현재 </a:t>
            </a:r>
            <a:r>
              <a:rPr lang="ko-KR" altLang="en-US" sz="2000" dirty="0" err="1"/>
              <a:t>상영작의</a:t>
            </a:r>
            <a:r>
              <a:rPr lang="ko-KR" altLang="en-US" sz="2000" dirty="0"/>
              <a:t> 제목</a:t>
            </a:r>
            <a:r>
              <a:rPr lang="en-US" altLang="ko-KR" sz="2000" dirty="0"/>
              <a:t>, </a:t>
            </a:r>
            <a:r>
              <a:rPr lang="ko-KR" altLang="en-US" sz="2000" dirty="0"/>
              <a:t>장르</a:t>
            </a:r>
            <a:r>
              <a:rPr lang="en-US" altLang="ko-KR" sz="2000" dirty="0"/>
              <a:t>, </a:t>
            </a:r>
            <a:r>
              <a:rPr lang="ko-KR" altLang="en-US" sz="2000" dirty="0"/>
              <a:t>상영시간</a:t>
            </a:r>
            <a:r>
              <a:rPr lang="en-US" altLang="ko-KR" sz="2000" dirty="0"/>
              <a:t>, </a:t>
            </a:r>
            <a:r>
              <a:rPr lang="ko-KR" altLang="en-US" sz="2000" dirty="0"/>
              <a:t>개봉일</a:t>
            </a:r>
            <a:r>
              <a:rPr lang="en-US" altLang="ko-KR" sz="2000" dirty="0"/>
              <a:t>, </a:t>
            </a:r>
            <a:r>
              <a:rPr lang="ko-KR" altLang="en-US" sz="2000" dirty="0"/>
              <a:t>누적 관객수</a:t>
            </a:r>
            <a:r>
              <a:rPr lang="en-US" altLang="ko-KR" sz="2000" dirty="0"/>
              <a:t>, </a:t>
            </a:r>
            <a:r>
              <a:rPr lang="ko-KR" altLang="en-US" sz="2000" dirty="0"/>
              <a:t>평론가</a:t>
            </a:r>
            <a:r>
              <a:rPr lang="en-US" altLang="ko-KR" sz="2000" dirty="0"/>
              <a:t>·</a:t>
            </a:r>
            <a:r>
              <a:rPr lang="ko-KR" altLang="en-US" sz="2000" dirty="0"/>
              <a:t>관객 평점을 크롤링하여 데이터셋을 구축하였다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=&gt; </a:t>
            </a:r>
            <a:r>
              <a:rPr lang="ko-KR" altLang="en-US" sz="2000" dirty="0" err="1"/>
              <a:t>결측값</a:t>
            </a:r>
            <a:r>
              <a:rPr lang="en-US" altLang="ko-KR" sz="2000" dirty="0"/>
              <a:t>, </a:t>
            </a:r>
            <a:r>
              <a:rPr lang="ko-KR" altLang="en-US" sz="2000" dirty="0"/>
              <a:t>이상치</a:t>
            </a:r>
            <a:r>
              <a:rPr lang="en-US" altLang="ko-KR" sz="2000" dirty="0"/>
              <a:t>, </a:t>
            </a:r>
            <a:r>
              <a:rPr lang="ko-KR" altLang="en-US" sz="2000" dirty="0"/>
              <a:t>중복 영화 제거와 형식 통일 작업을 통해 이후 분석에 사용할 수 있는 깨끗한 영화 데이터로 정제하였다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탐색적 데이터 분석 및 상관분석</a:t>
            </a:r>
          </a:p>
          <a:p>
            <a:r>
              <a:rPr lang="ko-KR" altLang="en-US" sz="2000" dirty="0"/>
              <a:t>상영시간과 누적 관객수는 오른쪽 꼬리가 긴 분포를 보였고</a:t>
            </a:r>
            <a:r>
              <a:rPr lang="en-US" altLang="ko-KR" sz="2000" dirty="0"/>
              <a:t>, </a:t>
            </a:r>
            <a:r>
              <a:rPr lang="ko-KR" altLang="en-US" sz="2000" dirty="0"/>
              <a:t>평론가 평점은 </a:t>
            </a:r>
            <a:r>
              <a:rPr lang="en-US" altLang="ko-KR" sz="2000" dirty="0"/>
              <a:t>6</a:t>
            </a:r>
            <a:r>
              <a:rPr lang="ko-KR" altLang="en-US" sz="2000" dirty="0" err="1"/>
              <a:t>점대</a:t>
            </a:r>
            <a:r>
              <a:rPr lang="en-US" altLang="ko-KR" sz="2000" dirty="0"/>
              <a:t>, </a:t>
            </a:r>
            <a:r>
              <a:rPr lang="ko-KR" altLang="en-US" sz="2000" dirty="0"/>
              <a:t>관객 평점은 </a:t>
            </a:r>
            <a:r>
              <a:rPr lang="en-US" altLang="ko-KR" sz="2000" dirty="0"/>
              <a:t>7</a:t>
            </a:r>
            <a:r>
              <a:rPr lang="ko-KR" altLang="en-US" sz="2000" dirty="0" err="1"/>
              <a:t>점대에</a:t>
            </a:r>
            <a:r>
              <a:rPr lang="ko-KR" altLang="en-US" sz="2000" dirty="0"/>
              <a:t> 값이 몰려 있는 경향이 확인되었다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=&gt; </a:t>
            </a:r>
            <a:r>
              <a:rPr lang="ko-KR" altLang="en-US" sz="2000" dirty="0"/>
              <a:t>상관계수와 </a:t>
            </a:r>
            <a:r>
              <a:rPr lang="ko-KR" altLang="en-US" sz="2000" dirty="0" err="1"/>
              <a:t>히트맵</a:t>
            </a:r>
            <a:r>
              <a:rPr lang="ko-KR" altLang="en-US" sz="2000" dirty="0"/>
              <a:t> 분석 결과 관객 평점과 누적 관객수 사이에 뚜렷한 양의 상관관계가 나타났으며</a:t>
            </a:r>
            <a:r>
              <a:rPr lang="en-US" altLang="ko-KR" sz="2000" dirty="0"/>
              <a:t>, </a:t>
            </a:r>
            <a:r>
              <a:rPr lang="ko-KR" altLang="en-US" sz="2000" dirty="0"/>
              <a:t>상영시간은 평점과의 상관이 상대적으로 약하게 나타났다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3120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7DDE-C449-FC12-F64D-CD6B6EEF1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20A6FC5-D774-7E5B-2723-D892BE1FFE01}"/>
              </a:ext>
            </a:extLst>
          </p:cNvPr>
          <p:cNvSpPr/>
          <p:nvPr/>
        </p:nvSpPr>
        <p:spPr>
          <a:xfrm>
            <a:off x="263944" y="638374"/>
            <a:ext cx="9378111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2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0731FF6-9918-E076-E686-509DA0C7C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96" y="153594"/>
            <a:ext cx="9161580" cy="400110"/>
          </a:xfrm>
        </p:spPr>
        <p:txBody>
          <a:bodyPr>
            <a:noAutofit/>
          </a:bodyPr>
          <a:lstStyle/>
          <a:p>
            <a:pPr algn="l"/>
            <a:r>
              <a:rPr lang="en-US" altLang="ko-KR" sz="2400" dirty="0"/>
              <a:t>9. </a:t>
            </a:r>
            <a:r>
              <a:rPr lang="ko-KR" altLang="en-US" sz="2400" dirty="0"/>
              <a:t>데이터분석 결과</a:t>
            </a:r>
          </a:p>
        </p:txBody>
      </p:sp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B61E9FB2-F458-AB21-12CC-BE7F1C7E3BA9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28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80709-67BC-7442-772D-13DF4D8A933E}"/>
              </a:ext>
            </a:extLst>
          </p:cNvPr>
          <p:cNvSpPr txBox="1"/>
          <p:nvPr/>
        </p:nvSpPr>
        <p:spPr>
          <a:xfrm>
            <a:off x="795670" y="1169249"/>
            <a:ext cx="858963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PCA </a:t>
            </a:r>
            <a:r>
              <a:rPr lang="ko-KR" altLang="en-US" sz="2000" dirty="0"/>
              <a:t>차원 축소</a:t>
            </a:r>
          </a:p>
          <a:p>
            <a:r>
              <a:rPr lang="ko-KR" altLang="en-US" sz="2000" dirty="0"/>
              <a:t>상영시간</a:t>
            </a:r>
            <a:r>
              <a:rPr lang="en-US" altLang="ko-KR" sz="2000" dirty="0"/>
              <a:t>, </a:t>
            </a:r>
            <a:r>
              <a:rPr lang="ko-KR" altLang="en-US" sz="2000" dirty="0"/>
              <a:t>누적 관객수</a:t>
            </a:r>
            <a:r>
              <a:rPr lang="en-US" altLang="ko-KR" sz="2000" dirty="0"/>
              <a:t>, </a:t>
            </a:r>
            <a:r>
              <a:rPr lang="ko-KR" altLang="en-US" sz="2000" dirty="0"/>
              <a:t>평론가 평점</a:t>
            </a:r>
            <a:r>
              <a:rPr lang="en-US" altLang="ko-KR" sz="2000" dirty="0"/>
              <a:t>, </a:t>
            </a:r>
            <a:r>
              <a:rPr lang="ko-KR" altLang="en-US" sz="2000" dirty="0"/>
              <a:t>관객 평점 네 변수를 주성분 분석으로 요약하여 영화 성과의 공통 패턴을 추출하였다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=&gt; </a:t>
            </a:r>
            <a:r>
              <a:rPr lang="ko-KR" altLang="en-US" sz="2000" dirty="0"/>
              <a:t>제</a:t>
            </a:r>
            <a:r>
              <a:rPr lang="en-US" altLang="ko-KR" sz="2000" dirty="0"/>
              <a:t>1</a:t>
            </a:r>
            <a:r>
              <a:rPr lang="ko-KR" altLang="en-US" sz="2000" dirty="0"/>
              <a:t>주성분 </a:t>
            </a:r>
            <a:r>
              <a:rPr lang="en-US" altLang="ko-KR" sz="2000" dirty="0"/>
              <a:t>PC1</a:t>
            </a:r>
            <a:r>
              <a:rPr lang="ko-KR" altLang="en-US" sz="2000" dirty="0"/>
              <a:t>이 네 변수의 변동을 가장 많이 설명하는 축으로 나타나</a:t>
            </a:r>
            <a:r>
              <a:rPr lang="en-US" altLang="ko-KR" sz="2000" dirty="0"/>
              <a:t>, </a:t>
            </a:r>
            <a:r>
              <a:rPr lang="ko-KR" altLang="en-US" sz="2000" dirty="0"/>
              <a:t>영화의 전반적인 성과</a:t>
            </a:r>
            <a:r>
              <a:rPr lang="en-US" altLang="ko-KR" sz="2000" dirty="0"/>
              <a:t>·</a:t>
            </a:r>
            <a:r>
              <a:rPr lang="ko-KR" altLang="en-US" sz="2000" dirty="0"/>
              <a:t>평가 수준을 대표하는 종합 지표로 활용하였다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선형 회귀 분석 및 모델 평가</a:t>
            </a:r>
          </a:p>
          <a:p>
            <a:r>
              <a:rPr lang="en-US" altLang="ko-KR" sz="2000" dirty="0"/>
              <a:t>PC1</a:t>
            </a:r>
            <a:r>
              <a:rPr lang="ko-KR" altLang="en-US" sz="2000" dirty="0"/>
              <a:t>을 설명변수</a:t>
            </a:r>
            <a:r>
              <a:rPr lang="en-US" altLang="ko-KR" sz="2000" dirty="0"/>
              <a:t>, cine21 </a:t>
            </a:r>
            <a:r>
              <a:rPr lang="ko-KR" altLang="en-US" sz="2000" dirty="0"/>
              <a:t>평점을 반응변수로 하는 단순 선형회귀모형을 적합한 결과 </a:t>
            </a:r>
            <a:r>
              <a:rPr lang="en-US" altLang="ko-KR" sz="2000" dirty="0"/>
              <a:t>R²</a:t>
            </a:r>
            <a:r>
              <a:rPr lang="ko-KR" altLang="en-US" sz="2000" dirty="0"/>
              <a:t>는 약 </a:t>
            </a:r>
            <a:r>
              <a:rPr lang="en-US" altLang="ko-KR" sz="2000" dirty="0"/>
              <a:t>0.52</a:t>
            </a:r>
            <a:r>
              <a:rPr lang="ko-KR" altLang="en-US" sz="2000" dirty="0"/>
              <a:t>로</a:t>
            </a:r>
            <a:r>
              <a:rPr lang="en-US" altLang="ko-KR" sz="2000" dirty="0"/>
              <a:t>, PC1 </a:t>
            </a:r>
            <a:r>
              <a:rPr lang="ko-KR" altLang="en-US" sz="2000" dirty="0"/>
              <a:t>하나만으로 평점 변동의 절반 정도를 설명하고 있는 것으로 나타났다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=&gt; </a:t>
            </a:r>
            <a:r>
              <a:rPr lang="ko-KR" altLang="en-US" sz="2000" dirty="0"/>
              <a:t>실제 평점과 예측 평점을 비교한 </a:t>
            </a:r>
            <a:r>
              <a:rPr lang="ko-KR" altLang="en-US" sz="2000" dirty="0" err="1"/>
              <a:t>산점도에서</a:t>
            </a:r>
            <a:r>
              <a:rPr lang="ko-KR" altLang="en-US" sz="2000" dirty="0"/>
              <a:t> 대부분의 점이 대각선 주변에 분포하여 전체적인 경향은 잘 따라가고 있으나</a:t>
            </a:r>
            <a:r>
              <a:rPr lang="en-US" altLang="ko-KR" sz="2000" dirty="0"/>
              <a:t>, </a:t>
            </a:r>
            <a:r>
              <a:rPr lang="ko-KR" altLang="en-US" sz="2000" dirty="0"/>
              <a:t>일부 영화에서는 과대</a:t>
            </a:r>
            <a:r>
              <a:rPr lang="en-US" altLang="ko-KR" sz="2000" dirty="0"/>
              <a:t>·</a:t>
            </a:r>
            <a:r>
              <a:rPr lang="ko-KR" altLang="en-US" sz="2000" dirty="0"/>
              <a:t>과소 예측이 존재해 개별 작품 수준의 정확도에는 한계가 있음을 확인하였다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3968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D0295-1B65-25B9-DCF0-C17DBC81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2A657FF-C280-8AEF-A333-8B96DA122A5F}"/>
              </a:ext>
            </a:extLst>
          </p:cNvPr>
          <p:cNvSpPr/>
          <p:nvPr/>
        </p:nvSpPr>
        <p:spPr>
          <a:xfrm>
            <a:off x="263944" y="638374"/>
            <a:ext cx="9378111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72" dirty="0" err="1"/>
              <a:t>ㅇ</a:t>
            </a:r>
            <a:endParaRPr lang="ko-KR" altLang="en-US" sz="572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2534A05C-3688-704B-5E71-D0119332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96" y="153594"/>
            <a:ext cx="9161580" cy="400110"/>
          </a:xfrm>
        </p:spPr>
        <p:txBody>
          <a:bodyPr>
            <a:noAutofit/>
          </a:bodyPr>
          <a:lstStyle/>
          <a:p>
            <a:pPr algn="l"/>
            <a:r>
              <a:rPr lang="en-US" altLang="ko-KR" sz="2400" dirty="0"/>
              <a:t>10. </a:t>
            </a:r>
            <a:r>
              <a:rPr lang="ko-KR" altLang="en-US" sz="2400" dirty="0"/>
              <a:t>참고자료</a:t>
            </a:r>
            <a:endParaRPr lang="ko-KR" altLang="en-US" sz="2400" dirty="0">
              <a:latin typeface="+mn-lt"/>
            </a:endParaRPr>
          </a:p>
        </p:txBody>
      </p:sp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EE5E3735-0BFD-02BC-E8DD-A472A83B1C43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29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292C71-359D-A09E-DF86-4BD793E6C8B5}"/>
              </a:ext>
            </a:extLst>
          </p:cNvPr>
          <p:cNvSpPr txBox="1"/>
          <p:nvPr/>
        </p:nvSpPr>
        <p:spPr>
          <a:xfrm>
            <a:off x="795670" y="1169249"/>
            <a:ext cx="85896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ko-KR" altLang="en-US" sz="2000" dirty="0" err="1"/>
              <a:t>크롤링</a:t>
            </a:r>
            <a:r>
              <a:rPr lang="ko-KR" altLang="en-US" sz="2000" dirty="0"/>
              <a:t> 사이트 추천 </a:t>
            </a:r>
            <a:r>
              <a:rPr lang="en-US" altLang="ko-KR" sz="2000" dirty="0"/>
              <a:t>AI </a:t>
            </a:r>
            <a:r>
              <a:rPr lang="ko-KR" altLang="en-US" sz="2000" dirty="0"/>
              <a:t>키워드</a:t>
            </a: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r>
              <a:rPr lang="ko-KR" altLang="en-US" sz="2000" dirty="0" err="1"/>
              <a:t>씨네</a:t>
            </a:r>
            <a:r>
              <a:rPr lang="en-US" altLang="ko-KR" sz="2000" dirty="0"/>
              <a:t>21 </a:t>
            </a:r>
            <a:r>
              <a:rPr lang="ko-KR" altLang="en-US" sz="2000" dirty="0" err="1"/>
              <a:t>크롤링</a:t>
            </a:r>
            <a:r>
              <a:rPr lang="ko-KR" altLang="en-US" sz="2000" dirty="0"/>
              <a:t> 정보를 참고한 블로그 </a:t>
            </a:r>
            <a:r>
              <a:rPr lang="en-US" altLang="ko-KR" sz="2000" dirty="0">
                <a:hlinkClick r:id="rId2"/>
              </a:rPr>
              <a:t>https://codingspooning.tistory.com/category/Programming/Python</a:t>
            </a: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r>
              <a:rPr lang="en-US" altLang="ko-KR" sz="2000" dirty="0" err="1"/>
              <a:t>Colab</a:t>
            </a:r>
            <a:r>
              <a:rPr lang="ko-KR" altLang="en-US" sz="2000" dirty="0"/>
              <a:t> 그래프에서 한글 사용을 위한 명령어 </a:t>
            </a:r>
            <a:r>
              <a:rPr lang="en-US" altLang="ko-KR" sz="2000" dirty="0"/>
              <a:t>https://teddylee777.github.io/colab/colab-korean/#google_vignette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9CDDFD-CD8D-4A4F-88A9-EC4F33F50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524000"/>
            <a:ext cx="4572000" cy="80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98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28912</TotalTime>
  <Words>6113</Words>
  <Application>Microsoft Office PowerPoint</Application>
  <PresentationFormat>A4 용지(210x297mm)</PresentationFormat>
  <Paragraphs>722</Paragraphs>
  <Slides>29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Roca One</vt:lpstr>
      <vt:lpstr>맑은 고딕</vt:lpstr>
      <vt:lpstr>시스템 서체</vt:lpstr>
      <vt:lpstr>Arial</vt:lpstr>
      <vt:lpstr>Calibri</vt:lpstr>
      <vt:lpstr>Wingdings</vt:lpstr>
      <vt:lpstr>Office Theme</vt:lpstr>
      <vt:lpstr>PowerPoint 프레젠테이션</vt:lpstr>
      <vt:lpstr>* 목차 *</vt:lpstr>
      <vt:lpstr>1. 프로젝트의 목적</vt:lpstr>
      <vt:lpstr>2. 데이터 생성</vt:lpstr>
      <vt:lpstr>2. 데이터 생성</vt:lpstr>
      <vt:lpstr>2. 데이터 생성</vt:lpstr>
      <vt:lpstr>2. 데이터 생성</vt:lpstr>
      <vt:lpstr>2. 데이터 생성</vt:lpstr>
      <vt:lpstr>2. 데이터 생성</vt:lpstr>
      <vt:lpstr>2. 데이터 생성</vt:lpstr>
      <vt:lpstr>2. 데이터 생성</vt:lpstr>
      <vt:lpstr>2. 데이터 생성</vt:lpstr>
      <vt:lpstr>2. 데이터 생성</vt:lpstr>
      <vt:lpstr>2. 데이터 생성</vt:lpstr>
      <vt:lpstr>3. 데이터 정제</vt:lpstr>
      <vt:lpstr>3. 데이터 정제</vt:lpstr>
      <vt:lpstr>3. 데이터 정제</vt:lpstr>
      <vt:lpstr>3. 데이터 정제</vt:lpstr>
      <vt:lpstr>4. 주성분 분석</vt:lpstr>
      <vt:lpstr>5. 상관관계 분석</vt:lpstr>
      <vt:lpstr>6. 시계열 분석</vt:lpstr>
      <vt:lpstr>6. 시계열 분석</vt:lpstr>
      <vt:lpstr>6. 시계열 분석</vt:lpstr>
      <vt:lpstr>6. 시계열 분석</vt:lpstr>
      <vt:lpstr>7. 선형회귀분석</vt:lpstr>
      <vt:lpstr>8. 제1주성분을 이용한 예측</vt:lpstr>
      <vt:lpstr>9. 데이터분석 결과</vt:lpstr>
      <vt:lpstr>9. 데이터분석 결과</vt:lpstr>
      <vt:lpstr>10. 참고자료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sujko</dc:creator>
  <cp:lastModifiedBy>User</cp:lastModifiedBy>
  <cp:revision>593</cp:revision>
  <cp:lastPrinted>2024-09-16T15:14:29Z</cp:lastPrinted>
  <dcterms:created xsi:type="dcterms:W3CDTF">2006-08-16T00:00:00Z</dcterms:created>
  <dcterms:modified xsi:type="dcterms:W3CDTF">2025-12-01T02:35:02Z</dcterms:modified>
  <dc:identifier>DAGLoQAklzk</dc:identifier>
</cp:coreProperties>
</file>